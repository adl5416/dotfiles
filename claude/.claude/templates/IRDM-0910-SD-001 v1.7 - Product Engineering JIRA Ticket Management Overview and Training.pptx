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9" r:id="rId4"/>
    <p:sldMasterId id="2147483682" r:id="rId5"/>
  </p:sldMasterIdLst>
  <p:notesMasterIdLst>
    <p:notesMasterId r:id="rId48"/>
  </p:notesMasterIdLst>
  <p:handoutMasterIdLst>
    <p:handoutMasterId r:id="rId49"/>
  </p:handoutMasterIdLst>
  <p:sldIdLst>
    <p:sldId id="276" r:id="rId6"/>
    <p:sldId id="1118" r:id="rId7"/>
    <p:sldId id="1147" r:id="rId8"/>
    <p:sldId id="1125" r:id="rId9"/>
    <p:sldId id="1169" r:id="rId10"/>
    <p:sldId id="1127" r:id="rId11"/>
    <p:sldId id="1129" r:id="rId12"/>
    <p:sldId id="1154" r:id="rId13"/>
    <p:sldId id="1155" r:id="rId14"/>
    <p:sldId id="1148" r:id="rId15"/>
    <p:sldId id="1157" r:id="rId16"/>
    <p:sldId id="1168" r:id="rId17"/>
    <p:sldId id="1130" r:id="rId18"/>
    <p:sldId id="1153" r:id="rId19"/>
    <p:sldId id="1171" r:id="rId20"/>
    <p:sldId id="1146" r:id="rId21"/>
    <p:sldId id="1158" r:id="rId22"/>
    <p:sldId id="1163" r:id="rId23"/>
    <p:sldId id="1131" r:id="rId24"/>
    <p:sldId id="1132" r:id="rId25"/>
    <p:sldId id="1134" r:id="rId26"/>
    <p:sldId id="1137" r:id="rId27"/>
    <p:sldId id="1133" r:id="rId28"/>
    <p:sldId id="1135" r:id="rId29"/>
    <p:sldId id="1150" r:id="rId30"/>
    <p:sldId id="1138" r:id="rId31"/>
    <p:sldId id="1172" r:id="rId32"/>
    <p:sldId id="1160" r:id="rId33"/>
    <p:sldId id="1161" r:id="rId34"/>
    <p:sldId id="1162" r:id="rId35"/>
    <p:sldId id="1170" r:id="rId36"/>
    <p:sldId id="1174" r:id="rId37"/>
    <p:sldId id="1141" r:id="rId38"/>
    <p:sldId id="1142" r:id="rId39"/>
    <p:sldId id="1143" r:id="rId40"/>
    <p:sldId id="1144" r:id="rId41"/>
    <p:sldId id="1149" r:id="rId42"/>
    <p:sldId id="1164" r:id="rId43"/>
    <p:sldId id="1173" r:id="rId44"/>
    <p:sldId id="1166" r:id="rId45"/>
    <p:sldId id="1152" r:id="rId46"/>
    <p:sldId id="117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F50757C-AA51-DF47-AF04-92878960E196}">
          <p14:sldIdLst>
            <p14:sldId id="276"/>
            <p14:sldId id="1118"/>
            <p14:sldId id="1147"/>
          </p14:sldIdLst>
        </p14:section>
        <p14:section name="Raising Tickets" id="{A959136E-A16C-7A41-B73A-AFFCF0C43650}">
          <p14:sldIdLst>
            <p14:sldId id="1125"/>
            <p14:sldId id="1169"/>
            <p14:sldId id="1127"/>
            <p14:sldId id="1129"/>
            <p14:sldId id="1154"/>
            <p14:sldId id="1155"/>
            <p14:sldId id="1148"/>
            <p14:sldId id="1157"/>
            <p14:sldId id="1168"/>
            <p14:sldId id="1130"/>
            <p14:sldId id="1153"/>
          </p14:sldIdLst>
        </p14:section>
        <p14:section name="Checkpoint" id="{FF53EBB5-A087-CC4C-A7BE-114546337980}">
          <p14:sldIdLst>
            <p14:sldId id="1171"/>
          </p14:sldIdLst>
        </p14:section>
        <p14:section name="Comment Threads" id="{AE5D0489-7502-5841-83A2-71EC81644F20}">
          <p14:sldIdLst>
            <p14:sldId id="1146"/>
            <p14:sldId id="1158"/>
            <p14:sldId id="1163"/>
          </p14:sldIdLst>
        </p14:section>
        <p14:section name="TL;DRs" id="{23F08DF0-967A-B543-9D69-AB4DF9235FD9}">
          <p14:sldIdLst>
            <p14:sldId id="1131"/>
            <p14:sldId id="1132"/>
          </p14:sldIdLst>
        </p14:section>
        <p14:section name="Ticket Workflow" id="{183D3DCA-AD30-0249-8F72-653B553D7E4F}">
          <p14:sldIdLst>
            <p14:sldId id="1134"/>
            <p14:sldId id="1137"/>
            <p14:sldId id="1133"/>
            <p14:sldId id="1135"/>
            <p14:sldId id="1150"/>
          </p14:sldIdLst>
        </p14:section>
        <p14:section name="Kanban Board" id="{1F9D0F9A-F976-994E-AE7C-E3E145C90567}">
          <p14:sldIdLst>
            <p14:sldId id="1138"/>
          </p14:sldIdLst>
        </p14:section>
        <p14:section name="Checkpoint" id="{114D74FF-D5AC-9341-9820-EF0A00411774}">
          <p14:sldIdLst>
            <p14:sldId id="1172"/>
          </p14:sldIdLst>
        </p14:section>
        <p14:section name="Backlogs" id="{B6C53842-22B1-A84F-8FDF-A81CEDD2FCDD}">
          <p14:sldIdLst>
            <p14:sldId id="1160"/>
            <p14:sldId id="1161"/>
            <p14:sldId id="1162"/>
            <p14:sldId id="1170"/>
            <p14:sldId id="1174"/>
          </p14:sldIdLst>
        </p14:section>
        <p14:section name="Team Lead Specific" id="{0B695361-548A-DE41-A321-02473290495A}">
          <p14:sldIdLst>
            <p14:sldId id="1141"/>
          </p14:sldIdLst>
        </p14:section>
        <p14:section name="Software Specific" id="{D0C60939-F720-754B-BA28-ED53B2808A95}">
          <p14:sldIdLst>
            <p14:sldId id="1142"/>
            <p14:sldId id="1143"/>
            <p14:sldId id="1144"/>
          </p14:sldIdLst>
        </p14:section>
        <p14:section name="Misc Ticket Topics" id="{8BE09EC5-0959-D64A-8849-E9F8BEBBE3E6}">
          <p14:sldIdLst>
            <p14:sldId id="1149"/>
            <p14:sldId id="1164"/>
          </p14:sldIdLst>
        </p14:section>
        <p14:section name="Recap" id="{97F62378-68E8-3848-98BA-A50BE3F12555}">
          <p14:sldIdLst>
            <p14:sldId id="1173"/>
          </p14:sldIdLst>
        </p14:section>
        <p14:section name="Closing and History" id="{532D35FD-1683-1646-B65F-FEFCBA86BC68}">
          <p14:sldIdLst>
            <p14:sldId id="1166"/>
            <p14:sldId id="1152"/>
            <p14:sldId id="11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AB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9" autoAdjust="0"/>
    <p:restoredTop sz="95135"/>
  </p:normalViewPr>
  <p:slideViewPr>
    <p:cSldViewPr snapToGrid="0" snapToObjects="1">
      <p:cViewPr varScale="1">
        <p:scale>
          <a:sx n="89" d="100"/>
          <a:sy n="89" d="100"/>
        </p:scale>
        <p:origin x="3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8911406-EEDF-4520-938F-6E12B0B38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F5DC9-EE7E-452F-8549-C74A97505B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76D1A-C412-4818-92A3-10EB9D201AD6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8ACCA-3695-4CE7-A02C-B5361E9527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FD5F1-6F45-40A2-9D1E-6887BEAC6E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B79A5-6A40-44AB-BBB2-DBF50F4114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637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6C530-5C8F-4541-8B2A-596A84163975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7C2C8-AA33-3245-9778-3B8DC27E0B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74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7C4EBD-F3B6-DB42-A8A0-9E5A141316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7145" y="1807716"/>
            <a:ext cx="5038455" cy="2001013"/>
          </a:xfrm>
        </p:spPr>
        <p:txBody>
          <a:bodyPr anchor="b"/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D341223-EAE0-DF41-8766-7BC26623480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7145" y="4244244"/>
            <a:ext cx="4898755" cy="1655762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638B32-E667-3C4A-B456-C18713F75B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5" r="14885"/>
          <a:stretch/>
        </p:blipFill>
        <p:spPr>
          <a:xfrm>
            <a:off x="5598791" y="0"/>
            <a:ext cx="6593209" cy="6599275"/>
          </a:xfrm>
          <a:prstGeom prst="rect">
            <a:avLst/>
          </a:prstGeom>
        </p:spPr>
      </p:pic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B015941-5654-F548-A705-0DADE41D3C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45" y="6235700"/>
            <a:ext cx="2011518" cy="3635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7E68B8-3B4F-AF4F-8151-A5AF4A96B3ED}"/>
              </a:ext>
            </a:extLst>
          </p:cNvPr>
          <p:cNvSpPr/>
          <p:nvPr userDrawn="1"/>
        </p:nvSpPr>
        <p:spPr>
          <a:xfrm>
            <a:off x="351323" y="4049777"/>
            <a:ext cx="3457101" cy="45719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96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os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0FF8FF-BEBD-1741-912A-77B8FAFBF1B8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0535E58-E99E-8549-B998-2ADD2EC178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87" y="6500902"/>
            <a:ext cx="1362301" cy="24623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940E909-88E9-9A49-8319-9F192CED8D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46" y="116118"/>
            <a:ext cx="10515600" cy="936851"/>
          </a:xfrm>
        </p:spPr>
        <p:txBody>
          <a:bodyPr/>
          <a:lstStyle>
            <a:lvl1pPr>
              <a:lnSpc>
                <a:spcPct val="100000"/>
              </a:lnSpc>
              <a:defRPr sz="3200" b="1"/>
            </a:lvl1pPr>
          </a:lstStyle>
          <a:p>
            <a:r>
              <a:rPr lang="en-US" dirty="0"/>
              <a:t>Legal Disclosures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6745613-57F6-014D-97CA-A5CD261C81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2846" y="1169088"/>
            <a:ext cx="10515600" cy="5044286"/>
          </a:xfrm>
        </p:spPr>
        <p:txBody>
          <a:bodyPr>
            <a:noAutofit/>
          </a:bodyPr>
          <a:lstStyle>
            <a:lvl1pPr>
              <a:defRPr sz="20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2CA43E-803B-2F4C-826E-A26F0784AD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8" t="-6444" b="-5697"/>
          <a:stretch/>
        </p:blipFill>
        <p:spPr>
          <a:xfrm>
            <a:off x="0" y="0"/>
            <a:ext cx="678612" cy="1169089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7CCA169-C9AA-8B4D-A822-2E3C0F62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6EF6814-F783-1C4F-BF35-C0A44B02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0535E58-E99E-8549-B998-2ADD2EC178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87" y="6500902"/>
            <a:ext cx="1362301" cy="2462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2EA1CD-55D2-554F-AE62-0DC295014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5" r="14885"/>
          <a:stretch/>
        </p:blipFill>
        <p:spPr>
          <a:xfrm>
            <a:off x="5952216" y="0"/>
            <a:ext cx="6239784" cy="62455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4EAEE2E-A693-5343-B820-E63AAF362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16" y="3114136"/>
            <a:ext cx="8878899" cy="1577983"/>
          </a:xfrm>
          <a:solidFill>
            <a:schemeClr val="tx1"/>
          </a:solidFill>
        </p:spPr>
        <p:txBody>
          <a:bodyPr anchor="ctr"/>
          <a:lstStyle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209A8D2-5F8B-D54E-8A5D-AA8D95CD2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B45CBF8-4256-6644-85E6-1B658204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C55037-D37C-4FE2-A4E2-9471CE394C99}"/>
              </a:ext>
            </a:extLst>
          </p:cNvPr>
          <p:cNvSpPr/>
          <p:nvPr userDrawn="1"/>
        </p:nvSpPr>
        <p:spPr>
          <a:xfrm>
            <a:off x="0" y="3114135"/>
            <a:ext cx="103517" cy="15779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376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0FF8FF-BEBD-1741-912A-77B8FAFBF1B8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0535E58-E99E-8549-B998-2ADD2EC178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87" y="6500902"/>
            <a:ext cx="1362301" cy="24623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940E909-88E9-9A49-8319-9F192CED8D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46" y="116118"/>
            <a:ext cx="10515600" cy="936851"/>
          </a:xfrm>
        </p:spPr>
        <p:txBody>
          <a:bodyPr/>
          <a:lstStyle>
            <a:lvl1pPr>
              <a:lnSpc>
                <a:spcPct val="100000"/>
              </a:lnSpc>
              <a:defRPr sz="3200" b="1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6745613-57F6-014D-97CA-A5CD261C81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2846" y="1169088"/>
            <a:ext cx="10515600" cy="5044286"/>
          </a:xfrm>
        </p:spPr>
        <p:txBody>
          <a:bodyPr>
            <a:noAutofit/>
          </a:bodyPr>
          <a:lstStyle>
            <a:lvl1pPr>
              <a:defRPr sz="20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2CA43E-803B-2F4C-826E-A26F0784AD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8" t="-6444" b="-5697"/>
          <a:stretch/>
        </p:blipFill>
        <p:spPr>
          <a:xfrm>
            <a:off x="0" y="0"/>
            <a:ext cx="678612" cy="1169089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9B0CBDC3-70C5-1D41-ABCB-27C43FCAC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50020A2-36AF-0D42-957E-F6E1F093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12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443475-3A60-9A46-8737-FD975510F15C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0D419D1-E40D-2E49-8B03-EC27D76E7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87" y="6500902"/>
            <a:ext cx="1362301" cy="24623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9FE8532-FEED-964D-B059-2D6BB358948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82846" y="1164437"/>
            <a:ext cx="5181600" cy="50492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9AEA258-FBEF-AE42-AA50-B996803C082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16846" y="1164437"/>
            <a:ext cx="5181600" cy="5049244"/>
          </a:xfrm>
        </p:spPr>
        <p:txBody>
          <a:bodyPr/>
          <a:lstStyle>
            <a:lvl1pPr>
              <a:defRPr sz="2000" b="0"/>
            </a:lvl1pPr>
            <a:lvl2pPr>
              <a:defRPr sz="2000" b="0"/>
            </a:lvl2pPr>
            <a:lvl3pPr>
              <a:defRPr sz="1800" b="0"/>
            </a:lvl3pPr>
            <a:lvl4pPr>
              <a:defRPr sz="1600" b="0"/>
            </a:lvl4pPr>
            <a:lvl5pPr>
              <a:defRPr sz="1600" b="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FDA912-C412-6D41-910F-FC4B207EEB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8" t="-6444" b="-5697"/>
          <a:stretch/>
        </p:blipFill>
        <p:spPr>
          <a:xfrm>
            <a:off x="0" y="0"/>
            <a:ext cx="678612" cy="1169089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7740D53-1165-C843-8D29-5AE8670CE2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46" y="117921"/>
            <a:ext cx="10515600" cy="936851"/>
          </a:xfrm>
        </p:spPr>
        <p:txBody>
          <a:bodyPr/>
          <a:lstStyle>
            <a:lvl1pPr>
              <a:lnSpc>
                <a:spcPct val="100000"/>
              </a:lnSpc>
              <a:defRPr sz="3200" b="1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2FD309F-DAC0-224C-8BBB-F4A250ED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6D4A02F6-9D91-D248-895A-748EF66A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53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D211913-45F0-2D42-9490-BF880CB2F3D6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158E882-8CE5-7349-A7E9-CD512288FD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87" y="6500902"/>
            <a:ext cx="1362301" cy="246231"/>
          </a:xfrm>
          <a:prstGeom prst="rect">
            <a:avLst/>
          </a:prstGeom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69B29AB-DF24-E04D-9728-582A34308D5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2846" y="1916674"/>
            <a:ext cx="5019414" cy="4297007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A2D1894-E727-EC46-9EEF-8B4C13FF1F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79032" y="1230731"/>
            <a:ext cx="5019414" cy="658451"/>
          </a:xfrm>
        </p:spPr>
        <p:txBody>
          <a:bodyPr anchor="b">
            <a:noAutofit/>
          </a:bodyPr>
          <a:lstStyle>
            <a:lvl1pPr marL="0" indent="0">
              <a:buNone/>
              <a:defRPr sz="2000" b="1" spc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SUBTITLE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19C0F938-9D0C-5A4A-88E0-B35A6354FED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79032" y="1916674"/>
            <a:ext cx="5019414" cy="4297007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A6B3909-020A-D743-91AA-0D91317829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46" y="116118"/>
            <a:ext cx="10515600" cy="936851"/>
          </a:xfrm>
        </p:spPr>
        <p:txBody>
          <a:bodyPr/>
          <a:lstStyle>
            <a:lvl1pPr>
              <a:lnSpc>
                <a:spcPct val="100000"/>
              </a:lnSpc>
              <a:defRPr sz="3200" b="1"/>
            </a:lvl1pPr>
          </a:lstStyle>
          <a:p>
            <a:r>
              <a:rPr lang="en-US" dirty="0"/>
              <a:t>Click to Edit Slide Title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10A698-2044-2D4E-AF3E-DCC805D08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8" t="-6444" b="-5697"/>
          <a:stretch/>
        </p:blipFill>
        <p:spPr>
          <a:xfrm>
            <a:off x="0" y="0"/>
            <a:ext cx="678612" cy="1169089"/>
          </a:xfrm>
          <a:prstGeom prst="rect">
            <a:avLst/>
          </a:prstGeom>
        </p:spPr>
      </p:pic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EE0DBF7E-5E06-974E-8257-E8EE6646E4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2846" y="1230731"/>
            <a:ext cx="5019414" cy="658451"/>
          </a:xfrm>
        </p:spPr>
        <p:txBody>
          <a:bodyPr anchor="b">
            <a:noAutofit/>
          </a:bodyPr>
          <a:lstStyle>
            <a:lvl1pPr marL="0" indent="0">
              <a:buNone/>
              <a:defRPr sz="2000" b="1" spc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SUBTITLE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1B0C947D-6D16-234C-AAF3-68861D49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AB16073A-0FEA-164B-BB1A-BAE690DF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80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0FF8FF-BEBD-1741-912A-77B8FAFBF1B8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0535E58-E99E-8549-B998-2ADD2EC178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87" y="6500902"/>
            <a:ext cx="1362301" cy="246231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563F748B-55CE-314E-BFAA-16CD52A6D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46" y="116118"/>
            <a:ext cx="10515600" cy="936851"/>
          </a:xfrm>
        </p:spPr>
        <p:txBody>
          <a:bodyPr/>
          <a:lstStyle>
            <a:lvl1pPr>
              <a:lnSpc>
                <a:spcPct val="100000"/>
              </a:lnSpc>
              <a:defRPr sz="3200" b="1"/>
            </a:lvl1pPr>
          </a:lstStyle>
          <a:p>
            <a:r>
              <a:rPr lang="en-US" dirty="0"/>
              <a:t>Click to Edit Slide Title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AC96D0F-ADF7-A544-8661-4232E83878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8" t="-6444" b="-5697"/>
          <a:stretch/>
        </p:blipFill>
        <p:spPr>
          <a:xfrm>
            <a:off x="0" y="0"/>
            <a:ext cx="678612" cy="1169089"/>
          </a:xfrm>
          <a:prstGeom prst="rect">
            <a:avLst/>
          </a:prstGeom>
        </p:spPr>
      </p:pic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CD62F54B-89AC-DD47-8F98-A7EBB9BB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EEFDAAA2-C685-7E47-A869-EE70C0A3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0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0FF8FF-BEBD-1741-912A-77B8FAFBF1B8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0535E58-E99E-8549-B998-2ADD2EC178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87" y="6500902"/>
            <a:ext cx="1362301" cy="246231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F742332-82E6-BE4A-BD5B-0BA35253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416D61E-23B7-2245-9096-E090A497C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671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F13E11F-7A24-A940-B1D3-38F49919C9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87" y="6500902"/>
            <a:ext cx="1362301" cy="2462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C2E5AB-4B50-004F-86C3-2599B83B36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5" r="14885"/>
          <a:stretch/>
        </p:blipFill>
        <p:spPr>
          <a:xfrm>
            <a:off x="5952216" y="0"/>
            <a:ext cx="6239784" cy="62455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6D1C05D-9277-2F4B-A735-030320C3E1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1008" y="1957996"/>
            <a:ext cx="8982416" cy="2726147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Closing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A50A83-403E-446C-9CC9-7EA14F4704FB}"/>
              </a:ext>
            </a:extLst>
          </p:cNvPr>
          <p:cNvSpPr/>
          <p:nvPr userDrawn="1"/>
        </p:nvSpPr>
        <p:spPr>
          <a:xfrm>
            <a:off x="1357491" y="1962309"/>
            <a:ext cx="103517" cy="27218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39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F13E11F-7A24-A940-B1D3-38F49919C9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87" y="6500902"/>
            <a:ext cx="1362301" cy="2462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C2E5AB-4B50-004F-86C3-2599B83B36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5" r="14885"/>
          <a:stretch/>
        </p:blipFill>
        <p:spPr>
          <a:xfrm>
            <a:off x="5952216" y="0"/>
            <a:ext cx="6239784" cy="62455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6D1C05D-9277-2F4B-A735-030320C3E1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1008" y="1957996"/>
            <a:ext cx="8982416" cy="2726147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Closing Text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BA2E44-E645-48E8-B542-26184EFB5A09}"/>
              </a:ext>
            </a:extLst>
          </p:cNvPr>
          <p:cNvGrpSpPr/>
          <p:nvPr userDrawn="1"/>
        </p:nvGrpSpPr>
        <p:grpSpPr>
          <a:xfrm>
            <a:off x="1461008" y="4827798"/>
            <a:ext cx="1483024" cy="434960"/>
            <a:chOff x="1461008" y="4827798"/>
            <a:chExt cx="1483024" cy="43496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2D95E8-B497-4B0D-85A0-6205D0338863}"/>
                </a:ext>
              </a:extLst>
            </p:cNvPr>
            <p:cNvSpPr/>
            <p:nvPr/>
          </p:nvSpPr>
          <p:spPr>
            <a:xfrm>
              <a:off x="1808785" y="4922168"/>
              <a:ext cx="113524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@IridiumComm</a:t>
              </a:r>
              <a:endParaRPr lang="en-US" sz="1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0" name="Picture 2" descr="Twitter icon">
              <a:extLst>
                <a:ext uri="{FF2B5EF4-FFF2-40B4-BE49-F238E27FC236}">
                  <a16:creationId xmlns:a16="http://schemas.microsoft.com/office/drawing/2014/main" id="{3CD3372C-1692-44B9-AEAA-83A780C3C3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1008" y="4827798"/>
              <a:ext cx="434961" cy="43496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DD971A-4F38-4657-86B3-66FD870D582C}"/>
              </a:ext>
            </a:extLst>
          </p:cNvPr>
          <p:cNvGrpSpPr/>
          <p:nvPr userDrawn="1"/>
        </p:nvGrpSpPr>
        <p:grpSpPr>
          <a:xfrm>
            <a:off x="5824712" y="4827798"/>
            <a:ext cx="1478200" cy="434960"/>
            <a:chOff x="5936850" y="4827798"/>
            <a:chExt cx="1478200" cy="43496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9F8DB5C-46CD-4A5A-B2AC-A5AE229024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5936850" y="4827798"/>
              <a:ext cx="347623" cy="43496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06B9E2C-460D-4C82-A95E-E83C7CF8C9DF}"/>
                </a:ext>
              </a:extLst>
            </p:cNvPr>
            <p:cNvSpPr/>
            <p:nvPr userDrawn="1"/>
          </p:nvSpPr>
          <p:spPr>
            <a:xfrm>
              <a:off x="6284473" y="4922168"/>
              <a:ext cx="113057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@IridiumComm</a:t>
              </a:r>
              <a:endParaRPr lang="en-US" sz="1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BF21C6B-7B6D-42FD-A033-B578924613E3}"/>
              </a:ext>
            </a:extLst>
          </p:cNvPr>
          <p:cNvGrpSpPr/>
          <p:nvPr userDrawn="1"/>
        </p:nvGrpSpPr>
        <p:grpSpPr>
          <a:xfrm>
            <a:off x="4570737" y="4871467"/>
            <a:ext cx="1071424" cy="347622"/>
            <a:chOff x="4639263" y="4871467"/>
            <a:chExt cx="1071424" cy="34762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901F4A-2E5F-4266-A75E-13846A6FEA76}"/>
                </a:ext>
              </a:extLst>
            </p:cNvPr>
            <p:cNvSpPr/>
            <p:nvPr userDrawn="1"/>
          </p:nvSpPr>
          <p:spPr>
            <a:xfrm>
              <a:off x="4978260" y="4922167"/>
              <a:ext cx="732427" cy="2462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@Iridium</a:t>
              </a:r>
              <a:endParaRPr lang="en-US" sz="1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103885B-BD75-4CD3-A1C7-ACDD804368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4639263" y="4871467"/>
              <a:ext cx="347622" cy="347622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0495691-BFC2-4CE2-852D-2FD154ACBB9C}"/>
              </a:ext>
            </a:extLst>
          </p:cNvPr>
          <p:cNvGrpSpPr/>
          <p:nvPr userDrawn="1"/>
        </p:nvGrpSpPr>
        <p:grpSpPr>
          <a:xfrm>
            <a:off x="3126583" y="4871467"/>
            <a:ext cx="1261603" cy="347622"/>
            <a:chOff x="3107484" y="4871467"/>
            <a:chExt cx="1261603" cy="347622"/>
          </a:xfrm>
        </p:grpSpPr>
        <p:pic>
          <p:nvPicPr>
            <p:cNvPr id="12" name="Picture 2" descr="Facebook, social media, social icon - Free download">
              <a:extLst>
                <a:ext uri="{FF2B5EF4-FFF2-40B4-BE49-F238E27FC236}">
                  <a16:creationId xmlns:a16="http://schemas.microsoft.com/office/drawing/2014/main" id="{1505D18E-5856-46A6-8CF5-F3D0333CEE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484" y="4871467"/>
              <a:ext cx="347623" cy="347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B0A30E3-088E-4A60-A139-AEE4C845FFB0}"/>
                </a:ext>
              </a:extLst>
            </p:cNvPr>
            <p:cNvSpPr/>
            <p:nvPr userDrawn="1"/>
          </p:nvSpPr>
          <p:spPr>
            <a:xfrm>
              <a:off x="3440319" y="4922167"/>
              <a:ext cx="928768" cy="2462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@MyIridium</a:t>
              </a:r>
              <a:endParaRPr lang="en-US" sz="1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78A831A-CE86-4F7F-8CF0-26763967D8CD}"/>
              </a:ext>
            </a:extLst>
          </p:cNvPr>
          <p:cNvSpPr/>
          <p:nvPr userDrawn="1"/>
        </p:nvSpPr>
        <p:spPr>
          <a:xfrm>
            <a:off x="1357491" y="1962309"/>
            <a:ext cx="103517" cy="27218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8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7C4EBD-F3B6-DB42-A8A0-9E5A141316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7145" y="1807716"/>
            <a:ext cx="5038455" cy="2001013"/>
          </a:xfrm>
        </p:spPr>
        <p:txBody>
          <a:bodyPr anchor="b"/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D341223-EAE0-DF41-8766-7BC26623480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7145" y="4244244"/>
            <a:ext cx="4898755" cy="1655762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7E68B8-3B4F-AF4F-8151-A5AF4A96B3ED}"/>
              </a:ext>
            </a:extLst>
          </p:cNvPr>
          <p:cNvSpPr/>
          <p:nvPr userDrawn="1"/>
        </p:nvSpPr>
        <p:spPr>
          <a:xfrm>
            <a:off x="351323" y="4049777"/>
            <a:ext cx="3457101" cy="45719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182D2A11-5123-407F-BE10-C03659CD08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672" y="6127242"/>
            <a:ext cx="2149959" cy="580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27822C-793B-4E29-B57B-D869722089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684" t="12224" r="12098"/>
          <a:stretch/>
        </p:blipFill>
        <p:spPr>
          <a:xfrm>
            <a:off x="4697306" y="1"/>
            <a:ext cx="7494694" cy="659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20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os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E80248D-2B01-4819-B3A0-89D420E12B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54"/>
          <a:stretch/>
        </p:blipFill>
        <p:spPr>
          <a:xfrm>
            <a:off x="-1797" y="57379"/>
            <a:ext cx="678612" cy="10543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0FF8FF-BEBD-1741-912A-77B8FAFBF1B8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940E909-88E9-9A49-8319-9F192CED8D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46" y="116118"/>
            <a:ext cx="10515600" cy="936851"/>
          </a:xfrm>
        </p:spPr>
        <p:txBody>
          <a:bodyPr/>
          <a:lstStyle>
            <a:lvl1pPr>
              <a:lnSpc>
                <a:spcPct val="100000"/>
              </a:lnSpc>
              <a:defRPr sz="3200" b="1"/>
            </a:lvl1pPr>
          </a:lstStyle>
          <a:p>
            <a:r>
              <a:rPr lang="en-US" dirty="0"/>
              <a:t>Legal Disclosures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6745613-57F6-014D-97CA-A5CD261C81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2846" y="1169088"/>
            <a:ext cx="10515600" cy="5044286"/>
          </a:xfrm>
        </p:spPr>
        <p:txBody>
          <a:bodyPr>
            <a:noAutofit/>
          </a:bodyPr>
          <a:lstStyle>
            <a:lvl1pPr>
              <a:defRPr sz="20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7CCA169-C9AA-8B4D-A822-2E3C0F62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6EF6814-F783-1C4F-BF35-C0A44B02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7B8626E-5F4A-47DC-BB0A-11BA40C214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1865" y="6417908"/>
            <a:ext cx="1511726" cy="40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11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5C14F1A-DE9C-44B5-8E16-F792675064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128" t="14290" r="16759" b="-2066"/>
          <a:stretch/>
        </p:blipFill>
        <p:spPr>
          <a:xfrm>
            <a:off x="5235068" y="0"/>
            <a:ext cx="6956932" cy="659927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4EAEE2E-A693-5343-B820-E63AAF362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16" y="3114136"/>
            <a:ext cx="8878899" cy="1577983"/>
          </a:xfrm>
          <a:solidFill>
            <a:schemeClr val="bg1"/>
          </a:solidFill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209A8D2-5F8B-D54E-8A5D-AA8D95CD2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B45CBF8-4256-6644-85E6-1B658204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C55037-D37C-4FE2-A4E2-9471CE394C99}"/>
              </a:ext>
            </a:extLst>
          </p:cNvPr>
          <p:cNvSpPr/>
          <p:nvPr userDrawn="1"/>
        </p:nvSpPr>
        <p:spPr>
          <a:xfrm>
            <a:off x="0" y="3114135"/>
            <a:ext cx="103517" cy="15779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44455A8D-6C07-4CF7-8CDD-CBD9B4869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1865" y="6417908"/>
            <a:ext cx="1511726" cy="40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93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0FF8FF-BEBD-1741-912A-77B8FAFBF1B8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940E909-88E9-9A49-8319-9F192CED8D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46" y="116118"/>
            <a:ext cx="10515600" cy="936851"/>
          </a:xfrm>
        </p:spPr>
        <p:txBody>
          <a:bodyPr/>
          <a:lstStyle>
            <a:lvl1pPr>
              <a:lnSpc>
                <a:spcPct val="100000"/>
              </a:lnSpc>
              <a:defRPr sz="3200" b="1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6745613-57F6-014D-97CA-A5CD261C81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2846" y="1169088"/>
            <a:ext cx="10515600" cy="5044286"/>
          </a:xfrm>
        </p:spPr>
        <p:txBody>
          <a:bodyPr>
            <a:noAutofit/>
          </a:bodyPr>
          <a:lstStyle>
            <a:lvl1pPr>
              <a:defRPr sz="20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9B0CBDC3-70C5-1D41-ABCB-27C43FCAC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50020A2-36AF-0D42-957E-F6E1F093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857063C-6F44-4179-A1DE-0994CA3978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1865" y="6417908"/>
            <a:ext cx="1511726" cy="4081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384E6A-70A3-4728-9E08-100C31BFA6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54"/>
          <a:stretch/>
        </p:blipFill>
        <p:spPr>
          <a:xfrm>
            <a:off x="-1797" y="57379"/>
            <a:ext cx="678612" cy="105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1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443475-3A60-9A46-8737-FD975510F15C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9FE8532-FEED-964D-B059-2D6BB358948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82846" y="1164437"/>
            <a:ext cx="5181600" cy="50492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9AEA258-FBEF-AE42-AA50-B996803C082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16846" y="1164437"/>
            <a:ext cx="5181600" cy="5049244"/>
          </a:xfrm>
        </p:spPr>
        <p:txBody>
          <a:bodyPr/>
          <a:lstStyle>
            <a:lvl1pPr>
              <a:defRPr sz="2000" b="0"/>
            </a:lvl1pPr>
            <a:lvl2pPr>
              <a:defRPr sz="2000" b="0"/>
            </a:lvl2pPr>
            <a:lvl3pPr>
              <a:defRPr sz="1800" b="0"/>
            </a:lvl3pPr>
            <a:lvl4pPr>
              <a:defRPr sz="1600" b="0"/>
            </a:lvl4pPr>
            <a:lvl5pPr>
              <a:defRPr sz="1600" b="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7740D53-1165-C843-8D29-5AE8670CE2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46" y="117921"/>
            <a:ext cx="10515600" cy="936851"/>
          </a:xfrm>
        </p:spPr>
        <p:txBody>
          <a:bodyPr/>
          <a:lstStyle>
            <a:lvl1pPr>
              <a:lnSpc>
                <a:spcPct val="100000"/>
              </a:lnSpc>
              <a:defRPr sz="3200" b="1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2FD309F-DAC0-224C-8BBB-F4A250ED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6D4A02F6-9D91-D248-895A-748EF66A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444C92D2-F79C-4FC3-8D26-9DCD5A325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1865" y="6417908"/>
            <a:ext cx="1511726" cy="4081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7B4C0A-1C41-4FB5-87E7-CA83F658FF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54"/>
          <a:stretch/>
        </p:blipFill>
        <p:spPr>
          <a:xfrm>
            <a:off x="-1797" y="57379"/>
            <a:ext cx="678612" cy="105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03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D211913-45F0-2D42-9490-BF880CB2F3D6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69B29AB-DF24-E04D-9728-582A34308D5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2846" y="1916674"/>
            <a:ext cx="5019414" cy="4297007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A2D1894-E727-EC46-9EEF-8B4C13FF1F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79032" y="1230731"/>
            <a:ext cx="5019414" cy="658451"/>
          </a:xfrm>
        </p:spPr>
        <p:txBody>
          <a:bodyPr anchor="b">
            <a:noAutofit/>
          </a:bodyPr>
          <a:lstStyle>
            <a:lvl1pPr marL="0" indent="0">
              <a:buNone/>
              <a:defRPr sz="2000" b="1" spc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SUBTITLE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19C0F938-9D0C-5A4A-88E0-B35A6354FED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79032" y="1916674"/>
            <a:ext cx="5019414" cy="4297007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Bullet Level 1</a:t>
            </a:r>
          </a:p>
          <a:p>
            <a:pPr lvl="2"/>
            <a:r>
              <a:rPr lang="en-US" dirty="0"/>
              <a:t>Bullet Level 2</a:t>
            </a:r>
          </a:p>
          <a:p>
            <a:pPr lvl="3"/>
            <a:r>
              <a:rPr lang="en-US" dirty="0"/>
              <a:t>Bullet Level 3</a:t>
            </a:r>
          </a:p>
          <a:p>
            <a:pPr lvl="4"/>
            <a:r>
              <a:rPr lang="en-US" dirty="0"/>
              <a:t>Bullet Level 4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A6B3909-020A-D743-91AA-0D91317829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46" y="116118"/>
            <a:ext cx="10515600" cy="936851"/>
          </a:xfrm>
        </p:spPr>
        <p:txBody>
          <a:bodyPr/>
          <a:lstStyle>
            <a:lvl1pPr>
              <a:lnSpc>
                <a:spcPct val="100000"/>
              </a:lnSpc>
              <a:defRPr sz="3200" b="1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EE0DBF7E-5E06-974E-8257-E8EE6646E4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2846" y="1230731"/>
            <a:ext cx="5019414" cy="658451"/>
          </a:xfrm>
        </p:spPr>
        <p:txBody>
          <a:bodyPr anchor="b">
            <a:noAutofit/>
          </a:bodyPr>
          <a:lstStyle>
            <a:lvl1pPr marL="0" indent="0">
              <a:buNone/>
              <a:defRPr sz="2000" b="1" spc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SUBTITLE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1B0C947D-6D16-234C-AAF3-68861D49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AB16073A-0FEA-164B-BB1A-BAE690DF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89DECEC1-517A-4B65-B01A-9C187735E1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1865" y="6417908"/>
            <a:ext cx="1511726" cy="4081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49858D-AB0C-474A-A5B0-6D983B4286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54"/>
          <a:stretch/>
        </p:blipFill>
        <p:spPr>
          <a:xfrm>
            <a:off x="-1797" y="57379"/>
            <a:ext cx="678612" cy="105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068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0FF8FF-BEBD-1741-912A-77B8FAFBF1B8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563F748B-55CE-314E-BFAA-16CD52A6D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46" y="116118"/>
            <a:ext cx="10515600" cy="936851"/>
          </a:xfrm>
        </p:spPr>
        <p:txBody>
          <a:bodyPr/>
          <a:lstStyle>
            <a:lvl1pPr>
              <a:lnSpc>
                <a:spcPct val="100000"/>
              </a:lnSpc>
              <a:defRPr sz="3200" b="1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CD62F54B-89AC-DD47-8F98-A7EBB9BB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EEFDAAA2-C685-7E47-A869-EE70C0A3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45F880D0-4B38-4B0F-8082-320D2B314C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1865" y="6417908"/>
            <a:ext cx="1511726" cy="4081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CB6460-987A-446F-8CC4-71B249F545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54"/>
          <a:stretch/>
        </p:blipFill>
        <p:spPr>
          <a:xfrm>
            <a:off x="-1797" y="57379"/>
            <a:ext cx="678612" cy="105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05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0FF8FF-BEBD-1741-912A-77B8FAFBF1B8}"/>
              </a:ext>
            </a:extLst>
          </p:cNvPr>
          <p:cNvSpPr/>
          <p:nvPr userDrawn="1"/>
        </p:nvSpPr>
        <p:spPr>
          <a:xfrm>
            <a:off x="0" y="6368762"/>
            <a:ext cx="12192000" cy="18288"/>
          </a:xfrm>
          <a:prstGeom prst="rect">
            <a:avLst/>
          </a:prstGeom>
          <a:solidFill>
            <a:srgbClr val="F1A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F742332-82E6-BE4A-BD5B-0BA35253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6" y="6443926"/>
            <a:ext cx="3919330" cy="365125"/>
          </a:xfrm>
        </p:spPr>
        <p:txBody>
          <a:bodyPr/>
          <a:lstStyle>
            <a:lvl1pPr algn="l">
              <a:defRPr sz="9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416D61E-23B7-2245-9096-E090A497C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905" y="6514114"/>
            <a:ext cx="447261" cy="365125"/>
          </a:xfrm>
        </p:spPr>
        <p:txBody>
          <a:bodyPr/>
          <a:lstStyle>
            <a:lvl1pPr>
              <a:defRPr sz="900" b="1">
                <a:solidFill>
                  <a:srgbClr val="F1AB3D"/>
                </a:solidFill>
              </a:defRPr>
            </a:lvl1pPr>
          </a:lstStyle>
          <a:p>
            <a:fld id="{B1019862-05A2-6842-A5FD-3894660EF7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8FED435-290D-4F5B-8DAD-54BDD62342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1865" y="6417908"/>
            <a:ext cx="1511726" cy="40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50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6875EA-0358-447F-A7CB-CB78C014B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128" t="14290" r="16759" b="-2066"/>
          <a:stretch/>
        </p:blipFill>
        <p:spPr>
          <a:xfrm>
            <a:off x="5235068" y="0"/>
            <a:ext cx="6956932" cy="659927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6D1C05D-9277-2F4B-A735-030320C3E1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1008" y="1957996"/>
            <a:ext cx="8982416" cy="2726147"/>
          </a:xfrm>
          <a:solidFill>
            <a:schemeClr val="bg1"/>
          </a:solidFill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Closing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A50A83-403E-446C-9CC9-7EA14F4704FB}"/>
              </a:ext>
            </a:extLst>
          </p:cNvPr>
          <p:cNvSpPr/>
          <p:nvPr userDrawn="1"/>
        </p:nvSpPr>
        <p:spPr>
          <a:xfrm>
            <a:off x="1357491" y="1962309"/>
            <a:ext cx="103517" cy="27218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8F979417-F9AB-4EE2-A075-36E9FE3308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1865" y="6417908"/>
            <a:ext cx="1511726" cy="40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672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182D2A11-5123-407F-BE10-C03659CD08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672" y="6127242"/>
            <a:ext cx="2149959" cy="580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27822C-793B-4E29-B57B-D869722089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684" t="12224" r="12098"/>
          <a:stretch/>
        </p:blipFill>
        <p:spPr>
          <a:xfrm>
            <a:off x="4697306" y="1"/>
            <a:ext cx="7494694" cy="659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2F16AF-250E-42FA-8B0B-45D62482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62DFD-1DE0-45D9-A60C-862D14DCC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E7F2C-D7F8-4184-82BF-C7CDC09CC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99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7" r:id="rId2"/>
    <p:sldLayoutId id="2147483678" r:id="rId3"/>
    <p:sldLayoutId id="2147483675" r:id="rId4"/>
    <p:sldLayoutId id="2147483652" r:id="rId5"/>
    <p:sldLayoutId id="2147483653" r:id="rId6"/>
    <p:sldLayoutId id="2147483654" r:id="rId7"/>
    <p:sldLayoutId id="2147483676" r:id="rId8"/>
    <p:sldLayoutId id="2147483658" r:id="rId9"/>
    <p:sldLayoutId id="2147483681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ystem Font Regular"/>
        <a:buChar char="⁃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2F16AF-250E-42FA-8B0B-45D62482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62DFD-1DE0-45D9-A60C-862D14DCC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E7F2C-D7F8-4184-82BF-C7CDC09CC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IRIDIUM PROPRIETARY BUSINESS INFORMATION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1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ystem Font Regular"/>
        <a:buChar char="⁃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microsoft.com/office/2007/relationships/hdphoto" Target="../media/hdphoto3.wdp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ource=hp&amp;ei=jIFzX-brNLqyytMPqrCZyAw&amp;q=long+url&amp;oq=long+url&amp;gs_lcp=CgZwc3ktYWIQAQFhAeMgYIABAWEB4yBggAEBYSQHjIGCAAQFhAeOg4IABDq&amp;uact=5" TargetMode="Externa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emf"/><Relationship Id="rId7" Type="http://schemas.openxmlformats.org/officeDocument/2006/relationships/image" Target="../media/image45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imgres?imgurl=https%3A%2F%2Fwww.parallelprojecttraining.com%2Fwp-content%2Fuploads%2F2018%2F03%2Fmanaging-project-issues.jpg&amp;imgrefurl=https%3A%2F%2Fwww.parallelprojecttraining.com%2Fwhats-difference-risk-management-issue-management%2F&amp;tbnid=PN6Kqcit_F6DhM&amp;vet=12ahUKEwjNwo_ql4_sAhVrneAKHSLrC4MQMygGegUIARDZAQ..i&amp;docid=5NxDFnwIH33FvM&amp;w=640&amp;h=640&amp;q=issue&amp;hl=en&amp;ved=2ahUKEwjNwo_ql4_sAhVrneAKHSLrC4MQMygGegUIARDZAQ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5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6148-4481-4E4C-BD95-ACF8B8A71C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Product Engineering                       JIRA Ticket Management   Overview and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CD98C-C3D8-4AE1-8B5F-E1CE2BA4BD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v1.7 // 26 SEP 2022</a:t>
            </a:r>
          </a:p>
          <a:p>
            <a:r>
              <a:rPr lang="en-US" dirty="0"/>
              <a:t>Product Engineering Leadership</a:t>
            </a:r>
          </a:p>
        </p:txBody>
      </p:sp>
    </p:spTree>
    <p:extLst>
      <p:ext uri="{BB962C8B-B14F-4D97-AF65-F5344CB8AC3E}">
        <p14:creationId xmlns:p14="http://schemas.microsoft.com/office/powerpoint/2010/main" val="14908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425E96-529D-E040-938C-83F854A6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// Background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CBCA63-5A7E-3646-A6D6-A5209AB09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846" y="1169088"/>
            <a:ext cx="6960979" cy="5044286"/>
          </a:xfrm>
        </p:spPr>
        <p:txBody>
          <a:bodyPr/>
          <a:lstStyle/>
          <a:p>
            <a:pPr lvl="0"/>
            <a:r>
              <a:rPr lang="en-US" sz="2133" dirty="0"/>
              <a:t>Scope</a:t>
            </a:r>
          </a:p>
          <a:p>
            <a:pPr lvl="1"/>
            <a:r>
              <a:rPr lang="en-US" sz="1867" dirty="0"/>
              <a:t>Outlines a scheme for managing tasks as tracked in the JIRA ticketing system</a:t>
            </a:r>
          </a:p>
          <a:p>
            <a:pPr lvl="1"/>
            <a:r>
              <a:rPr lang="en-US" sz="1867" dirty="0"/>
              <a:t>Currently used in the following JIRA projects</a:t>
            </a:r>
          </a:p>
          <a:p>
            <a:pPr lvl="2"/>
            <a:r>
              <a:rPr lang="en-US" sz="1667" dirty="0"/>
              <a:t>BCX (9810), SFX (9770), SQM, TD8 (9523), TD2 (960x), HB (handsets), and ANC (Certus Network Controller)</a:t>
            </a:r>
          </a:p>
          <a:p>
            <a:pPr lvl="1"/>
            <a:r>
              <a:rPr lang="en-US" sz="1867" dirty="0"/>
              <a:t>Deck targeted to ticket Creators and Actioners</a:t>
            </a:r>
          </a:p>
          <a:p>
            <a:pPr lvl="2"/>
            <a:r>
              <a:rPr lang="en-US" sz="1667" dirty="0"/>
              <a:t>Normally-hidden slides for discussion with Project Leads and Software Engineering Individual Contributors</a:t>
            </a:r>
          </a:p>
          <a:p>
            <a:pPr lvl="1"/>
            <a:r>
              <a:rPr lang="en-US" sz="1867" dirty="0"/>
              <a:t>Focuses on Philosophy (why) and Practice (what) – but not so much on Mechanics (how to click buttons </a:t>
            </a:r>
            <a:r>
              <a:rPr lang="en-US" sz="1867" dirty="0" err="1"/>
              <a:t>etc</a:t>
            </a:r>
            <a:r>
              <a:rPr lang="en-US" sz="1867" dirty="0"/>
              <a:t>)</a:t>
            </a:r>
          </a:p>
          <a:p>
            <a:r>
              <a:rPr lang="en-US" sz="2133" dirty="0"/>
              <a:t>Background</a:t>
            </a:r>
          </a:p>
          <a:p>
            <a:pPr lvl="1"/>
            <a:r>
              <a:rPr lang="en-US" sz="1867" dirty="0"/>
              <a:t>Scheme originally developed for software on Iridium’s legacy terminals (9523, 960x, handsets, et al) starting in 2015Q4 and evolved through active use over years since</a:t>
            </a:r>
          </a:p>
          <a:p>
            <a:pPr lvl="1"/>
            <a:r>
              <a:rPr lang="en-US" sz="1867" dirty="0"/>
              <a:t>Applied to 9770 (SFX) and 9810 (BCX) software in 2020Q2 during R&amp;D to Value Engineering transition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4E95C7-5C28-D840-BEA3-A9BF7A01E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1E3CDF-A14B-8748-8A74-D79250C2A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F5364B-66A7-DB4B-BC67-B5840A7B6A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595"/>
          <a:stretch/>
        </p:blipFill>
        <p:spPr>
          <a:xfrm>
            <a:off x="8404659" y="1052969"/>
            <a:ext cx="3361231" cy="24349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C293DB-BC26-A04A-9F9C-0590550663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480"/>
          <a:stretch/>
        </p:blipFill>
        <p:spPr>
          <a:xfrm>
            <a:off x="8413059" y="3658431"/>
            <a:ext cx="3369051" cy="243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30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CA508-2041-43E5-833F-467B35124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 // Look-Ahead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A8795D-C7C4-4575-809B-845DFFF8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6490" y="1228726"/>
            <a:ext cx="5091956" cy="4984648"/>
          </a:xfrm>
        </p:spPr>
        <p:txBody>
          <a:bodyPr/>
          <a:lstStyle/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Raising Tickets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/>
              <a:t>(!) Ticket Summary Field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/>
              <a:t>(!) Ticket Description Field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/>
              <a:t>(!) Ticket “Definition of Done”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Comment Threads (3)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TL;DRs (2)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Ticket Workflow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Kanban Board (1)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Backlogs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(?) Team Leads (1) [optional]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(?) Software Specific (3) [optional]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Ticket Miscellany 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8CD044-537F-4AAF-9C3E-4E7EB80E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 descr="Slides">
            <a:extLst>
              <a:ext uri="{FF2B5EF4-FFF2-40B4-BE49-F238E27FC236}">
                <a16:creationId xmlns:a16="http://schemas.microsoft.com/office/drawing/2014/main" id="{5FB44431-5000-3242-BCB3-BD4E64AA9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33" y="1697354"/>
            <a:ext cx="4439863" cy="3777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F8F2AC7-A944-DA4E-8603-5F094326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2562423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B64AC6-BB70-4790-B0AA-5ED24C0A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Raising Tickets // General Advice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5A9D98-72E0-4697-8002-ED58D86E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33" dirty="0"/>
              <a:t>At their core tickets are </a:t>
            </a:r>
            <a:r>
              <a:rPr lang="en-US" sz="2133" b="1" i="1" dirty="0"/>
              <a:t>a method to efficiently and effectively **communicate** between **people**</a:t>
            </a:r>
          </a:p>
          <a:p>
            <a:pPr lvl="1"/>
            <a:r>
              <a:rPr lang="en-US" sz="1867" dirty="0"/>
              <a:t>Be Clear (precision of language prevents confusion)</a:t>
            </a:r>
          </a:p>
          <a:p>
            <a:pPr lvl="1"/>
            <a:r>
              <a:rPr lang="en-US" sz="1867" dirty="0"/>
              <a:t>Be Concise (make it easy on the reader to understand you)</a:t>
            </a:r>
          </a:p>
          <a:p>
            <a:pPr lvl="1"/>
            <a:r>
              <a:rPr lang="en-US" sz="1867" dirty="0"/>
              <a:t>Be Courteous (we are One Iridium / success requires teamwork)</a:t>
            </a:r>
          </a:p>
          <a:p>
            <a:r>
              <a:rPr lang="en-US" sz="2133" dirty="0"/>
              <a:t>Put as much effort into your ticket as you expect from others</a:t>
            </a:r>
          </a:p>
          <a:p>
            <a:pPr lvl="1"/>
            <a:r>
              <a:rPr lang="en-US" sz="1867" dirty="0"/>
              <a:t>“Throwing junk over the wall” is for n00bs</a:t>
            </a:r>
          </a:p>
          <a:p>
            <a:pPr lvl="1"/>
            <a:r>
              <a:rPr lang="en-US" sz="1867" dirty="0"/>
              <a:t>Users downstream of you (and there are a lot) will be more inclined to help - and do a better job at it - if you follow the 3Cs above</a:t>
            </a:r>
          </a:p>
          <a:p>
            <a:r>
              <a:rPr lang="en-US" sz="2133" dirty="0"/>
              <a:t>Do not raise multiple issues with 1 ticket</a:t>
            </a:r>
          </a:p>
          <a:p>
            <a:pPr lvl="1"/>
            <a:r>
              <a:rPr lang="en-US" sz="1867" dirty="0"/>
              <a:t>Tickets (and links to tickets) are cheap compared to the potential confusion</a:t>
            </a:r>
          </a:p>
          <a:p>
            <a:pPr lvl="1"/>
            <a:r>
              <a:rPr lang="en-US" sz="1867" dirty="0"/>
              <a:t>May not immediately be obvious that it’s more than one issue</a:t>
            </a:r>
          </a:p>
          <a:p>
            <a:pPr lvl="2"/>
            <a:r>
              <a:rPr lang="en-US" sz="1600" dirty="0"/>
              <a:t>Tickets forked (and linked) once this is discovered – but should not be the normal modus operandi</a:t>
            </a:r>
          </a:p>
          <a:p>
            <a:pPr lvl="1"/>
            <a:r>
              <a:rPr lang="en-US" sz="1867" dirty="0"/>
              <a:t>Adjunct guidance: Don’t pile on more “related” issues into a ticket once it’s opened (more on this later) // See “tickets are cheap” axiom above</a:t>
            </a:r>
          </a:p>
          <a:p>
            <a:endParaRPr lang="en-US" sz="1867" dirty="0"/>
          </a:p>
          <a:p>
            <a:endParaRPr lang="en-GB" sz="2133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385A7A-5B9B-402D-B55D-BF8EE2403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2B329831-3768-9B4E-849E-4D786096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4284425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0EFCB-3C08-44EF-B567-EAE70AD4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Raising Tickets // Defining 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AE580-29A3-4E14-AFFE-6B9C5BD10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67" dirty="0"/>
              <a:t>Reason for this Conversation</a:t>
            </a:r>
          </a:p>
          <a:p>
            <a:pPr lvl="1"/>
            <a:r>
              <a:rPr lang="en-US" sz="1600" dirty="0"/>
              <a:t>Official JIRA terminology for two key fields is … potentially confusing;</a:t>
            </a:r>
          </a:p>
          <a:p>
            <a:pPr lvl="1"/>
            <a:r>
              <a:rPr lang="en-US" sz="1600" dirty="0"/>
              <a:t>Term “Summary” in isolation is reasonable to resolve to “those paragraphs at the top of the ticket”</a:t>
            </a:r>
          </a:p>
          <a:p>
            <a:pPr lvl="2"/>
            <a:r>
              <a:rPr lang="en-US" sz="1400" dirty="0"/>
              <a:t>You’d be wrong</a:t>
            </a:r>
          </a:p>
          <a:p>
            <a:pPr lvl="1"/>
            <a:r>
              <a:rPr lang="en-US" sz="1600" dirty="0"/>
              <a:t>Yes, when given choice between “Summary” and “Description” in same context you can map them</a:t>
            </a:r>
          </a:p>
          <a:p>
            <a:pPr lvl="2"/>
            <a:r>
              <a:rPr lang="en-US" sz="1400" dirty="0"/>
              <a:t>But in this presentation and in spoken conversation you seldom have both names in front of you to choose from</a:t>
            </a:r>
          </a:p>
          <a:p>
            <a:pPr lvl="1"/>
            <a:r>
              <a:rPr lang="en-US" sz="1600" dirty="0"/>
              <a:t>This presentation uses official terms – but I will likely voice-over as the more common spoken names</a:t>
            </a:r>
          </a:p>
          <a:p>
            <a:pPr lvl="2"/>
            <a:r>
              <a:rPr lang="en-US" sz="1400" dirty="0"/>
              <a:t>Summary → “Title”</a:t>
            </a:r>
          </a:p>
          <a:p>
            <a:pPr lvl="2"/>
            <a:r>
              <a:rPr lang="en-US" sz="1400" dirty="0"/>
              <a:t>Description → “Details”</a:t>
            </a:r>
            <a:endParaRPr lang="en-US" sz="1667" dirty="0"/>
          </a:p>
          <a:p>
            <a:r>
              <a:rPr lang="en-US" sz="1867" dirty="0"/>
              <a:t>Some Trivia (while we’re here)</a:t>
            </a:r>
            <a:endParaRPr lang="en-US" sz="1467" dirty="0"/>
          </a:p>
          <a:p>
            <a:pPr lvl="1"/>
            <a:r>
              <a:rPr lang="en-US" sz="1600" dirty="0"/>
              <a:t>Why did Atlassian name their product JIRA?</a:t>
            </a:r>
          </a:p>
          <a:p>
            <a:pPr lvl="1"/>
            <a:r>
              <a:rPr lang="en-US" sz="1600" dirty="0"/>
              <a:t>Hint: Issue tracker market was dominated by Bugzilla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BB3AA-844A-423B-9C17-9EED31D4B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IRIDIUM PROPRIETARY BUSINESS INFORMATION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15F6A-3A86-4E62-89D1-01261FBA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862-05A2-6842-A5FD-3894660EF752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3097E0B-0A7F-4F15-A77A-7A846B46253E}"/>
              </a:ext>
            </a:extLst>
          </p:cNvPr>
          <p:cNvGrpSpPr/>
          <p:nvPr/>
        </p:nvGrpSpPr>
        <p:grpSpPr>
          <a:xfrm>
            <a:off x="7098520" y="3317637"/>
            <a:ext cx="4498015" cy="2907338"/>
            <a:chOff x="7588586" y="3365447"/>
            <a:chExt cx="4498015" cy="290733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687971C-F9D1-42B4-BC21-6F64B73DA2A9}"/>
                </a:ext>
              </a:extLst>
            </p:cNvPr>
            <p:cNvGrpSpPr/>
            <p:nvPr/>
          </p:nvGrpSpPr>
          <p:grpSpPr>
            <a:xfrm>
              <a:off x="7608605" y="3365447"/>
              <a:ext cx="4477996" cy="2907338"/>
              <a:chOff x="7449084" y="1975331"/>
              <a:chExt cx="4477996" cy="2907338"/>
            </a:xfrm>
          </p:grpSpPr>
          <p:pic>
            <p:nvPicPr>
              <p:cNvPr id="7" name="Picture 6" descr="A screenshot of a computer&#10;&#10;Description automatically generated">
                <a:extLst>
                  <a:ext uri="{FF2B5EF4-FFF2-40B4-BE49-F238E27FC236}">
                    <a16:creationId xmlns:a16="http://schemas.microsoft.com/office/drawing/2014/main" id="{A74E5963-3D35-43FD-AAA7-1A754F0982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70086" r="3358"/>
              <a:stretch/>
            </p:blipFill>
            <p:spPr>
              <a:xfrm>
                <a:off x="7449084" y="3347913"/>
                <a:ext cx="4477996" cy="1534756"/>
              </a:xfrm>
              <a:prstGeom prst="rect">
                <a:avLst/>
              </a:prstGeom>
            </p:spPr>
          </p:pic>
          <p:pic>
            <p:nvPicPr>
              <p:cNvPr id="8" name="Picture 7" descr="A screenshot of a computer&#10;&#10;Description automatically generated">
                <a:extLst>
                  <a:ext uri="{FF2B5EF4-FFF2-40B4-BE49-F238E27FC236}">
                    <a16:creationId xmlns:a16="http://schemas.microsoft.com/office/drawing/2014/main" id="{D47BA82F-F444-4FA5-9E91-E59E4D3472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3358" b="73247"/>
              <a:stretch/>
            </p:blipFill>
            <p:spPr>
              <a:xfrm>
                <a:off x="7449084" y="1975331"/>
                <a:ext cx="4477996" cy="1372582"/>
              </a:xfrm>
              <a:prstGeom prst="rect">
                <a:avLst/>
              </a:prstGeom>
            </p:spPr>
          </p:pic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DA36C26-9378-451A-BB89-3AB09275DD72}"/>
                </a:ext>
              </a:extLst>
            </p:cNvPr>
            <p:cNvSpPr/>
            <p:nvPr/>
          </p:nvSpPr>
          <p:spPr>
            <a:xfrm flipV="1">
              <a:off x="8081473" y="4568979"/>
              <a:ext cx="461473" cy="135308"/>
            </a:xfrm>
            <a:custGeom>
              <a:avLst/>
              <a:gdLst>
                <a:gd name="connsiteX0" fmla="*/ 0 w 489959"/>
                <a:gd name="connsiteY0" fmla="*/ 28486 h 254623"/>
                <a:gd name="connsiteX1" fmla="*/ 438684 w 489959"/>
                <a:gd name="connsiteY1" fmla="*/ 227888 h 254623"/>
                <a:gd name="connsiteX2" fmla="*/ 11394 w 489959"/>
                <a:gd name="connsiteY2" fmla="*/ 227888 h 254623"/>
                <a:gd name="connsiteX3" fmla="*/ 489959 w 489959"/>
                <a:gd name="connsiteY3" fmla="*/ 0 h 25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959" h="254623">
                  <a:moveTo>
                    <a:pt x="0" y="28486"/>
                  </a:moveTo>
                  <a:cubicBezTo>
                    <a:pt x="218392" y="111570"/>
                    <a:pt x="436785" y="194654"/>
                    <a:pt x="438684" y="227888"/>
                  </a:cubicBezTo>
                  <a:cubicBezTo>
                    <a:pt x="440583" y="261122"/>
                    <a:pt x="2848" y="265869"/>
                    <a:pt x="11394" y="227888"/>
                  </a:cubicBezTo>
                  <a:cubicBezTo>
                    <a:pt x="19940" y="189907"/>
                    <a:pt x="396905" y="29435"/>
                    <a:pt x="489959" y="0"/>
                  </a:cubicBezTo>
                </a:path>
              </a:pathLst>
            </a:custGeom>
            <a:noFill/>
            <a:ln w="25400">
              <a:solidFill>
                <a:srgbClr val="F1AB3D">
                  <a:alpha val="3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8C4146F-6D8A-4762-8CDE-10D0876B0504}"/>
                </a:ext>
              </a:extLst>
            </p:cNvPr>
            <p:cNvSpPr/>
            <p:nvPr/>
          </p:nvSpPr>
          <p:spPr>
            <a:xfrm flipH="1" flipV="1">
              <a:off x="7969624" y="4820406"/>
              <a:ext cx="524225" cy="106434"/>
            </a:xfrm>
            <a:custGeom>
              <a:avLst/>
              <a:gdLst>
                <a:gd name="connsiteX0" fmla="*/ 0 w 489959"/>
                <a:gd name="connsiteY0" fmla="*/ 28486 h 254623"/>
                <a:gd name="connsiteX1" fmla="*/ 438684 w 489959"/>
                <a:gd name="connsiteY1" fmla="*/ 227888 h 254623"/>
                <a:gd name="connsiteX2" fmla="*/ 11394 w 489959"/>
                <a:gd name="connsiteY2" fmla="*/ 227888 h 254623"/>
                <a:gd name="connsiteX3" fmla="*/ 489959 w 489959"/>
                <a:gd name="connsiteY3" fmla="*/ 0 h 25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959" h="254623">
                  <a:moveTo>
                    <a:pt x="0" y="28486"/>
                  </a:moveTo>
                  <a:cubicBezTo>
                    <a:pt x="218392" y="111570"/>
                    <a:pt x="436785" y="194654"/>
                    <a:pt x="438684" y="227888"/>
                  </a:cubicBezTo>
                  <a:cubicBezTo>
                    <a:pt x="440583" y="261122"/>
                    <a:pt x="2848" y="265869"/>
                    <a:pt x="11394" y="227888"/>
                  </a:cubicBezTo>
                  <a:cubicBezTo>
                    <a:pt x="19940" y="189907"/>
                    <a:pt x="396905" y="29435"/>
                    <a:pt x="489959" y="0"/>
                  </a:cubicBezTo>
                </a:path>
              </a:pathLst>
            </a:custGeom>
            <a:noFill/>
            <a:ln w="25400">
              <a:solidFill>
                <a:srgbClr val="F1AB3D">
                  <a:alpha val="3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640C82-E32F-4ED0-B4A9-D4E418B3642E}"/>
                </a:ext>
              </a:extLst>
            </p:cNvPr>
            <p:cNvSpPr txBox="1"/>
            <p:nvPr/>
          </p:nvSpPr>
          <p:spPr>
            <a:xfrm>
              <a:off x="7588586" y="4271320"/>
              <a:ext cx="187661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2"/>
              <a:r>
                <a:rPr lang="en-US" sz="1400" dirty="0"/>
                <a:t>     </a:t>
              </a:r>
              <a:r>
                <a:rPr lang="en-US" sz="1400" dirty="0">
                  <a:solidFill>
                    <a:srgbClr val="F1AB3D"/>
                  </a:solidFill>
                </a:rPr>
                <a:t>”Title”</a:t>
              </a:r>
            </a:p>
            <a:p>
              <a:pPr lvl="2"/>
              <a:endParaRPr lang="en-US" sz="1400" dirty="0">
                <a:solidFill>
                  <a:srgbClr val="F1AB3D"/>
                </a:solidFill>
              </a:endParaRPr>
            </a:p>
            <a:p>
              <a:pPr lvl="2"/>
              <a:endParaRPr lang="en-US" sz="1400" dirty="0">
                <a:solidFill>
                  <a:srgbClr val="F1AB3D"/>
                </a:solidFill>
              </a:endParaRPr>
            </a:p>
            <a:p>
              <a:pPr lvl="2"/>
              <a:endParaRPr lang="en-US" sz="1400" dirty="0">
                <a:solidFill>
                  <a:srgbClr val="F1AB3D"/>
                </a:solidFill>
              </a:endParaRPr>
            </a:p>
            <a:p>
              <a:pPr lvl="2"/>
              <a:r>
                <a:rPr lang="en-US" sz="1400" dirty="0">
                  <a:solidFill>
                    <a:srgbClr val="F1AB3D"/>
                  </a:solidFill>
                </a:rPr>
                <a:t>”Details”</a:t>
              </a:r>
              <a:endParaRPr lang="en-US" sz="1667" dirty="0">
                <a:solidFill>
                  <a:srgbClr val="F1AB3D"/>
                </a:solidFill>
              </a:endParaRPr>
            </a:p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D245710-8C1F-4C7F-AC27-500EEDB5B71E}"/>
                </a:ext>
              </a:extLst>
            </p:cNvPr>
            <p:cNvSpPr/>
            <p:nvPr/>
          </p:nvSpPr>
          <p:spPr>
            <a:xfrm>
              <a:off x="8225209" y="4963459"/>
              <a:ext cx="354015" cy="316753"/>
            </a:xfrm>
            <a:custGeom>
              <a:avLst/>
              <a:gdLst>
                <a:gd name="connsiteX0" fmla="*/ 365678 w 365678"/>
                <a:gd name="connsiteY0" fmla="*/ 316753 h 316753"/>
                <a:gd name="connsiteX1" fmla="*/ 66854 w 365678"/>
                <a:gd name="connsiteY1" fmla="*/ 197223 h 316753"/>
                <a:gd name="connsiteX2" fmla="*/ 36972 w 365678"/>
                <a:gd name="connsiteY2" fmla="*/ 0 h 316753"/>
                <a:gd name="connsiteX0" fmla="*/ 357072 w 357072"/>
                <a:gd name="connsiteY0" fmla="*/ 316753 h 316753"/>
                <a:gd name="connsiteX1" fmla="*/ 94107 w 357072"/>
                <a:gd name="connsiteY1" fmla="*/ 251012 h 316753"/>
                <a:gd name="connsiteX2" fmla="*/ 28366 w 357072"/>
                <a:gd name="connsiteY2" fmla="*/ 0 h 316753"/>
                <a:gd name="connsiteX0" fmla="*/ 353129 w 353129"/>
                <a:gd name="connsiteY0" fmla="*/ 316753 h 316753"/>
                <a:gd name="connsiteX1" fmla="*/ 114070 w 353129"/>
                <a:gd name="connsiteY1" fmla="*/ 245035 h 316753"/>
                <a:gd name="connsiteX2" fmla="*/ 24423 w 353129"/>
                <a:gd name="connsiteY2" fmla="*/ 0 h 316753"/>
                <a:gd name="connsiteX0" fmla="*/ 354015 w 354015"/>
                <a:gd name="connsiteY0" fmla="*/ 316753 h 316753"/>
                <a:gd name="connsiteX1" fmla="*/ 108979 w 354015"/>
                <a:gd name="connsiteY1" fmla="*/ 251012 h 316753"/>
                <a:gd name="connsiteX2" fmla="*/ 25309 w 354015"/>
                <a:gd name="connsiteY2" fmla="*/ 0 h 31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4015" h="316753">
                  <a:moveTo>
                    <a:pt x="354015" y="316753"/>
                  </a:moveTo>
                  <a:cubicBezTo>
                    <a:pt x="231995" y="283384"/>
                    <a:pt x="163763" y="303804"/>
                    <a:pt x="108979" y="251012"/>
                  </a:cubicBezTo>
                  <a:cubicBezTo>
                    <a:pt x="54195" y="198220"/>
                    <a:pt x="-47405" y="17929"/>
                    <a:pt x="25309" y="0"/>
                  </a:cubicBezTo>
                </a:path>
              </a:pathLst>
            </a:custGeom>
            <a:noFill/>
            <a:ln w="25400">
              <a:headEnd type="none"/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6516DA7-B7B8-4505-A43E-FCCBB27FA24F}"/>
                </a:ext>
              </a:extLst>
            </p:cNvPr>
            <p:cNvSpPr/>
            <p:nvPr/>
          </p:nvSpPr>
          <p:spPr>
            <a:xfrm>
              <a:off x="8316259" y="4340258"/>
              <a:ext cx="490070" cy="180942"/>
            </a:xfrm>
            <a:custGeom>
              <a:avLst/>
              <a:gdLst>
                <a:gd name="connsiteX0" fmla="*/ 490070 w 490070"/>
                <a:gd name="connsiteY0" fmla="*/ 18509 h 108156"/>
                <a:gd name="connsiteX1" fmla="*/ 346635 w 490070"/>
                <a:gd name="connsiteY1" fmla="*/ 6556 h 108156"/>
                <a:gd name="connsiteX2" fmla="*/ 0 w 490070"/>
                <a:gd name="connsiteY2" fmla="*/ 108156 h 108156"/>
                <a:gd name="connsiteX0" fmla="*/ 490070 w 490070"/>
                <a:gd name="connsiteY0" fmla="*/ 23324 h 112971"/>
                <a:gd name="connsiteX1" fmla="*/ 119529 w 490070"/>
                <a:gd name="connsiteY1" fmla="*/ 5395 h 112971"/>
                <a:gd name="connsiteX2" fmla="*/ 0 w 490070"/>
                <a:gd name="connsiteY2" fmla="*/ 112971 h 112971"/>
                <a:gd name="connsiteX0" fmla="*/ 499178 w 499178"/>
                <a:gd name="connsiteY0" fmla="*/ 62094 h 151741"/>
                <a:gd name="connsiteX1" fmla="*/ 27037 w 499178"/>
                <a:gd name="connsiteY1" fmla="*/ 2330 h 151741"/>
                <a:gd name="connsiteX2" fmla="*/ 9108 w 499178"/>
                <a:gd name="connsiteY2" fmla="*/ 151741 h 151741"/>
                <a:gd name="connsiteX0" fmla="*/ 490070 w 490070"/>
                <a:gd name="connsiteY0" fmla="*/ 56327 h 145974"/>
                <a:gd name="connsiteX1" fmla="*/ 77693 w 490070"/>
                <a:gd name="connsiteY1" fmla="*/ 2540 h 145974"/>
                <a:gd name="connsiteX2" fmla="*/ 0 w 490070"/>
                <a:gd name="connsiteY2" fmla="*/ 145974 h 145974"/>
                <a:gd name="connsiteX0" fmla="*/ 490070 w 490070"/>
                <a:gd name="connsiteY0" fmla="*/ 91295 h 180942"/>
                <a:gd name="connsiteX1" fmla="*/ 119528 w 490070"/>
                <a:gd name="connsiteY1" fmla="*/ 1649 h 180942"/>
                <a:gd name="connsiteX2" fmla="*/ 0 w 490070"/>
                <a:gd name="connsiteY2" fmla="*/ 180942 h 180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0070" h="180942">
                  <a:moveTo>
                    <a:pt x="490070" y="91295"/>
                  </a:moveTo>
                  <a:cubicBezTo>
                    <a:pt x="459191" y="77848"/>
                    <a:pt x="201206" y="-13292"/>
                    <a:pt x="119528" y="1649"/>
                  </a:cubicBezTo>
                  <a:cubicBezTo>
                    <a:pt x="37850" y="16590"/>
                    <a:pt x="72714" y="174966"/>
                    <a:pt x="0" y="180942"/>
                  </a:cubicBezTo>
                </a:path>
              </a:pathLst>
            </a:custGeom>
            <a:noFill/>
            <a:ln w="25400"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265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D72ECF-3BCC-4539-B38D-1A1644A1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Raising Tickets // Summary Field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998156-0E5F-4851-98EA-46F1076CF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846" y="1169088"/>
            <a:ext cx="7755364" cy="5044286"/>
          </a:xfrm>
        </p:spPr>
        <p:txBody>
          <a:bodyPr/>
          <a:lstStyle/>
          <a:p>
            <a:r>
              <a:rPr lang="en-US" sz="2133" dirty="0"/>
              <a:t>Ticket Summary: The “Title” of the Ticket</a:t>
            </a:r>
            <a:endParaRPr lang="en-US" sz="1867" dirty="0"/>
          </a:p>
          <a:p>
            <a:pPr lvl="1"/>
            <a:r>
              <a:rPr lang="en-US" sz="1867" dirty="0"/>
              <a:t>Ultimately how a ticket gets noticed and referenced //everywhere// - ticket lists, Kanban cards, project status decks, presentations to executives, release notes, and on and on</a:t>
            </a:r>
          </a:p>
          <a:p>
            <a:pPr lvl="1"/>
            <a:r>
              <a:rPr lang="en-US" sz="1867" dirty="0"/>
              <a:t>Words used here are gold – take your time crafting it</a:t>
            </a:r>
          </a:p>
          <a:p>
            <a:r>
              <a:rPr lang="en-US" sz="2133" dirty="0"/>
              <a:t>Include everything important ... without being //too// wordy</a:t>
            </a:r>
          </a:p>
          <a:p>
            <a:pPr lvl="1"/>
            <a:r>
              <a:rPr lang="en-GB" sz="1867" dirty="0"/>
              <a:t>“Wrong Upgrade Tool Version” (poor – lots of ambiguity)</a:t>
            </a:r>
          </a:p>
          <a:p>
            <a:pPr lvl="1"/>
            <a:r>
              <a:rPr lang="en-GB" sz="1867" dirty="0"/>
              <a:t>vs</a:t>
            </a:r>
          </a:p>
          <a:p>
            <a:pPr lvl="1"/>
            <a:r>
              <a:rPr lang="en-GB" sz="1867" dirty="0"/>
              <a:t>“Erroneous Version Number in 960x Upgrade Tool TG17002 GUI”</a:t>
            </a:r>
          </a:p>
          <a:p>
            <a:pPr lvl="1"/>
            <a:r>
              <a:rPr lang="en-GB" sz="1867" dirty="0"/>
              <a:t>Suggestion: think “newspaper headline” when writing</a:t>
            </a:r>
          </a:p>
          <a:p>
            <a:r>
              <a:rPr lang="en-GB" sz="2133" dirty="0"/>
              <a:t>Put key information at front of summary</a:t>
            </a:r>
          </a:p>
          <a:p>
            <a:pPr lvl="1"/>
            <a:r>
              <a:rPr lang="en-GB" sz="1867" dirty="0"/>
              <a:t>Retains key terms when truncated on board cards</a:t>
            </a:r>
          </a:p>
          <a:p>
            <a:pPr lvl="1"/>
            <a:r>
              <a:rPr lang="en-GB" sz="1867" dirty="0"/>
              <a:t>Makes for faster grok when reviewing tickets</a:t>
            </a:r>
          </a:p>
          <a:p>
            <a:pPr lvl="1"/>
            <a:r>
              <a:rPr lang="en-GB" sz="1867" dirty="0"/>
              <a:t>Gives easy/natural handle (in meetings you will say “Erroneous Version” and everyone will know the ticket you are speaking to)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23D8F1-6AAA-4446-92CD-CF63206D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8A7F5D8-BE84-E742-AAC6-A24013EE7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306528-3FE5-4D49-8239-F942E9D8F3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710"/>
          <a:stretch/>
        </p:blipFill>
        <p:spPr>
          <a:xfrm>
            <a:off x="8818245" y="1169088"/>
            <a:ext cx="3006090" cy="2257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859E9F-6C41-C74E-AD45-98A967882F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508"/>
          <a:stretch/>
        </p:blipFill>
        <p:spPr>
          <a:xfrm>
            <a:off x="9059727" y="3743325"/>
            <a:ext cx="2463617" cy="225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78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CCA0D5-A95C-4411-A1DE-217D54C96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Raising Tickets // Description Field (1/6)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7F3C7-C42E-49BD-84AA-248AE14D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67" dirty="0"/>
              <a:t>Key Contents of an Effective Description</a:t>
            </a:r>
            <a:endParaRPr lang="en-US" sz="1467" dirty="0"/>
          </a:p>
          <a:p>
            <a:pPr lvl="1"/>
            <a:r>
              <a:rPr lang="en-US" sz="1600" dirty="0"/>
              <a:t>Reminder of the 3Cs: Clear. Concise. Courteous.</a:t>
            </a:r>
          </a:p>
          <a:p>
            <a:pPr lvl="1"/>
            <a:r>
              <a:rPr lang="en-US" sz="1600" dirty="0"/>
              <a:t>Executive Summary</a:t>
            </a:r>
          </a:p>
          <a:p>
            <a:pPr lvl="2"/>
            <a:r>
              <a:rPr lang="en-US" sz="1467" dirty="0"/>
              <a:t>One or two sentences of what the ticket is about and why it matters</a:t>
            </a:r>
          </a:p>
          <a:p>
            <a:pPr lvl="1"/>
            <a:r>
              <a:rPr lang="en-US" sz="1600" dirty="0"/>
              <a:t>Impact Assessment (e.g. Value Proposition)</a:t>
            </a:r>
          </a:p>
          <a:p>
            <a:pPr lvl="2"/>
            <a:r>
              <a:rPr lang="en-US" sz="1467" dirty="0"/>
              <a:t>One or two sentences indicating “how big a deal this is”</a:t>
            </a:r>
          </a:p>
          <a:p>
            <a:pPr lvl="2"/>
            <a:r>
              <a:rPr lang="en-US" sz="1467" dirty="0"/>
              <a:t>What is the impact if this happens in the field?  How likely is that?  Are we in a race to get this done before something else?  What is this blocking?</a:t>
            </a:r>
          </a:p>
          <a:p>
            <a:pPr lvl="1"/>
            <a:r>
              <a:rPr lang="en-US" sz="1600" dirty="0"/>
              <a:t>Context</a:t>
            </a:r>
          </a:p>
          <a:p>
            <a:pPr lvl="2"/>
            <a:r>
              <a:rPr lang="en-US" sz="1467" dirty="0"/>
              <a:t>Any potentially relevant background</a:t>
            </a:r>
          </a:p>
          <a:p>
            <a:pPr lvl="2"/>
            <a:r>
              <a:rPr lang="en-US" sz="1467" dirty="0"/>
              <a:t>Pointers to other tickets (spawned from or blocking etc)</a:t>
            </a:r>
          </a:p>
          <a:p>
            <a:pPr lvl="1"/>
            <a:r>
              <a:rPr lang="en-US" sz="1600" dirty="0"/>
              <a:t>Details</a:t>
            </a:r>
          </a:p>
          <a:p>
            <a:pPr lvl="2"/>
            <a:r>
              <a:rPr lang="en-US" sz="1467" dirty="0"/>
              <a:t>A detailed (but concise) description of the issue or request</a:t>
            </a:r>
          </a:p>
          <a:p>
            <a:pPr lvl="2"/>
            <a:r>
              <a:rPr lang="en-US" sz="1467" dirty="0"/>
              <a:t>Avoid speculation and hyperbole!</a:t>
            </a:r>
          </a:p>
          <a:p>
            <a:pPr lvl="2"/>
            <a:r>
              <a:rPr lang="en-US" sz="1467" dirty="0"/>
              <a:t>For software or hardware “bugs”: What led up to the event and/or what are the steps to recreate? – and //all// versions of anything relevant</a:t>
            </a:r>
          </a:p>
          <a:p>
            <a:pPr lvl="2"/>
            <a:r>
              <a:rPr lang="en-US" sz="1467" dirty="0"/>
              <a:t>For investigations/scoping/general: Anything known that helps frame the ask</a:t>
            </a:r>
          </a:p>
          <a:p>
            <a:pPr lvl="1"/>
            <a:r>
              <a:rPr lang="en-GB" sz="1600" dirty="0"/>
              <a:t>Definition of Done</a:t>
            </a:r>
          </a:p>
          <a:p>
            <a:pPr lvl="2"/>
            <a:r>
              <a:rPr lang="en-GB" sz="1467" dirty="0"/>
              <a:t>(More detail about DoDs coming up…)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CA1FC8-63DB-4558-9943-C64B07CA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2D913D0F-1521-9C48-864A-F302EF726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2726329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CCA0D5-A95C-4411-A1DE-217D54C96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Raising Tickets // Description Field (2/6)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7F3C7-C42E-49BD-84AA-248AE14D1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845" y="1169088"/>
            <a:ext cx="8320385" cy="5044286"/>
          </a:xfrm>
        </p:spPr>
        <p:txBody>
          <a:bodyPr/>
          <a:lstStyle/>
          <a:p>
            <a:r>
              <a:rPr lang="en-US" sz="1867" dirty="0"/>
              <a:t>Key Contents of an Effective Description (summary from previous)</a:t>
            </a:r>
            <a:endParaRPr lang="en-US" sz="1467" dirty="0"/>
          </a:p>
          <a:p>
            <a:pPr lvl="1"/>
            <a:r>
              <a:rPr lang="en-US" sz="1467" dirty="0"/>
              <a:t>Executive Summary, Impact Assessment, Context, Details, </a:t>
            </a:r>
            <a:r>
              <a:rPr lang="en-GB" sz="1467" dirty="0"/>
              <a:t>Definition of Done</a:t>
            </a:r>
          </a:p>
          <a:p>
            <a:r>
              <a:rPr lang="en-US" sz="1867" dirty="0"/>
              <a:t>Understanding the Anatomy of an Effective Description</a:t>
            </a:r>
          </a:p>
          <a:p>
            <a:pPr lvl="1"/>
            <a:r>
              <a:rPr lang="en-US" sz="1467" dirty="0"/>
              <a:t>Ticket Purpose Reminder: Efficiently and Effectively Communicate between People</a:t>
            </a:r>
          </a:p>
          <a:p>
            <a:pPr lvl="1"/>
            <a:r>
              <a:rPr lang="en-US" sz="1467" dirty="0"/>
              <a:t>What People? – And What Are Their Needs? (And how does Description address these?)</a:t>
            </a:r>
          </a:p>
          <a:p>
            <a:pPr marL="973138" lvl="2" indent="-174625"/>
            <a:r>
              <a:rPr lang="en-US" sz="1400" dirty="0"/>
              <a:t>Product Lead</a:t>
            </a:r>
          </a:p>
          <a:p>
            <a:pPr marL="1221298" lvl="3" indent="-150280"/>
            <a:r>
              <a:rPr lang="en-US" sz="1200" dirty="0"/>
              <a:t>Whomever is setting the priorities – e.g. ranking tickets to create a backlog of work items</a:t>
            </a:r>
          </a:p>
          <a:p>
            <a:pPr marL="1221298" lvl="3" indent="-150280"/>
            <a:r>
              <a:rPr lang="en-US" sz="1200" dirty="0"/>
              <a:t>What is the value and risk? // “Impact Assessment”</a:t>
            </a:r>
          </a:p>
          <a:p>
            <a:pPr marL="973138" lvl="2" indent="-174625"/>
            <a:r>
              <a:rPr lang="en-US" sz="1400" dirty="0"/>
              <a:t>Technical Lead</a:t>
            </a:r>
          </a:p>
          <a:p>
            <a:pPr marL="1221298" lvl="3" indent="-150280"/>
            <a:r>
              <a:rPr lang="en-US" sz="1200" dirty="0"/>
              <a:t>Responsible for quality, timely, and cost-effective path from initiation to conclusion</a:t>
            </a:r>
          </a:p>
          <a:p>
            <a:pPr marL="1221298" lvl="3" indent="-150280"/>
            <a:r>
              <a:rPr lang="en-US" sz="1200" dirty="0"/>
              <a:t>What needs to be done? Is everything done? // “all” but also “Definition of Done”</a:t>
            </a:r>
          </a:p>
          <a:p>
            <a:pPr marL="973138" lvl="2" indent="-174625"/>
            <a:r>
              <a:rPr lang="en-US" sz="1400" dirty="0"/>
              <a:t>Individual Contributor(s)</a:t>
            </a:r>
          </a:p>
          <a:p>
            <a:pPr marL="1221298" lvl="3" indent="-150280"/>
            <a:r>
              <a:rPr lang="en-US" sz="1200" dirty="0"/>
              <a:t>Subject matter experts who will likely do most of the heavy-lifting in the ticket</a:t>
            </a:r>
          </a:p>
          <a:p>
            <a:pPr marL="1221298" lvl="3" indent="-150280"/>
            <a:r>
              <a:rPr lang="en-US" sz="1200" dirty="0"/>
              <a:t>What is this about? How do I recreate? What do I need to do? // “all”</a:t>
            </a:r>
          </a:p>
          <a:p>
            <a:pPr marL="973138" lvl="2" indent="-174625"/>
            <a:r>
              <a:rPr lang="en-US" sz="1400" dirty="0"/>
              <a:t>Managers and/or Observers</a:t>
            </a:r>
          </a:p>
          <a:p>
            <a:pPr marL="1221298" lvl="3" indent="-150280"/>
            <a:r>
              <a:rPr lang="en-US" sz="1200" dirty="0"/>
              <a:t>Anyone interested in the topic</a:t>
            </a:r>
          </a:p>
          <a:p>
            <a:pPr marL="1221298" lvl="3" indent="-150280"/>
            <a:r>
              <a:rPr lang="en-US" sz="1200" dirty="0"/>
              <a:t>What is this about? What is the impact? How does it relate to other stuff? How much is left?                // “Exec Summary”, “Impact Assessment”, “Context”, “DoD”)</a:t>
            </a:r>
          </a:p>
          <a:p>
            <a:pPr marL="764098" lvl="2" indent="-150280"/>
            <a:endParaRPr lang="en-US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CA1FC8-63DB-4558-9943-C64B07CA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9F9A1B95-B23D-4D0C-A18A-FDF88161A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271" y="1094357"/>
            <a:ext cx="2422029" cy="2555657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2D9158CE-6B85-4DD8-A46E-E5EEBD420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270" y="3915461"/>
            <a:ext cx="2422029" cy="1848182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D8943BF8-77AB-D94B-8B1B-EF1A8457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156966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CCA0D5-A95C-4411-A1DE-217D54C96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Raising Tickets // Description Field (3/6)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7F3C7-C42E-49BD-84AA-248AE14D1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846" y="1169088"/>
            <a:ext cx="9318512" cy="5044286"/>
          </a:xfrm>
        </p:spPr>
        <p:txBody>
          <a:bodyPr/>
          <a:lstStyle/>
          <a:p>
            <a:r>
              <a:rPr lang="en-US" sz="2133" dirty="0"/>
              <a:t>The Power of a (Live) Definition of Done</a:t>
            </a:r>
          </a:p>
          <a:p>
            <a:pPr lvl="1"/>
            <a:r>
              <a:rPr lang="en-US" sz="1867" dirty="0"/>
              <a:t>Sets the scope of the ticket/activity</a:t>
            </a:r>
          </a:p>
          <a:p>
            <a:pPr lvl="1"/>
            <a:r>
              <a:rPr lang="en-US" sz="1867" dirty="0"/>
              <a:t>Communicates to all what is to be done, has been done, is still to go</a:t>
            </a:r>
          </a:p>
          <a:p>
            <a:pPr lvl="1"/>
            <a:r>
              <a:rPr lang="en-US" sz="1867" dirty="0"/>
              <a:t>Is a quick reference point for the major points of progress / decisions</a:t>
            </a:r>
          </a:p>
          <a:p>
            <a:pPr lvl="1"/>
            <a:r>
              <a:rPr lang="en-US" sz="1867" dirty="0"/>
              <a:t>Prevents meandering (e.g. “dilute”) tickets</a:t>
            </a:r>
          </a:p>
          <a:p>
            <a:pPr lvl="1"/>
            <a:r>
              <a:rPr lang="en-US" sz="1867" dirty="0"/>
              <a:t>Sets a clear trajectory for the work from the start</a:t>
            </a:r>
          </a:p>
          <a:p>
            <a:pPr lvl="1"/>
            <a:r>
              <a:rPr lang="en-US" sz="1867" dirty="0"/>
              <a:t>Assigns //actions// to //people// (more on this in a few slides)</a:t>
            </a:r>
          </a:p>
          <a:p>
            <a:pPr lvl="1"/>
            <a:r>
              <a:rPr lang="en-US" sz="1867" dirty="0"/>
              <a:t>Advanced Level: Write in Imperative Mood (each bullet is an action)</a:t>
            </a:r>
            <a:endParaRPr lang="en-US" dirty="0"/>
          </a:p>
          <a:p>
            <a:r>
              <a:rPr lang="en-US" sz="2133" dirty="0"/>
              <a:t>The DoD: A Spade as A Spade</a:t>
            </a:r>
          </a:p>
          <a:p>
            <a:pPr lvl="1"/>
            <a:r>
              <a:rPr lang="en-US" sz="1867" dirty="0"/>
              <a:t>A Definition of Done is really just a bullet-point checklist in the ticket Description</a:t>
            </a:r>
          </a:p>
          <a:p>
            <a:pPr lvl="1"/>
            <a:r>
              <a:rPr lang="en-US" sz="1867" dirty="0"/>
              <a:t>Why rename it to “Definition of Done”?</a:t>
            </a:r>
          </a:p>
          <a:p>
            <a:pPr lvl="2"/>
            <a:r>
              <a:rPr lang="en-US" sz="1600" dirty="0"/>
              <a:t>Because DONE feels good. We’ve finished something. Boom. Mic drop. Now we’re on to the next task/ticket to create even more value.</a:t>
            </a:r>
          </a:p>
          <a:p>
            <a:pPr lvl="2"/>
            <a:r>
              <a:rPr lang="en-US" sz="1600" dirty="0"/>
              <a:t>“Are you done yet?” Without a Definition of Done how can we effectively communicate when this question is asked?</a:t>
            </a:r>
          </a:p>
          <a:p>
            <a:pPr lvl="2"/>
            <a:r>
              <a:rPr lang="en-US" sz="1600" dirty="0"/>
              <a:t>A Definition of Done is also defined by the Agile Alliance as a key process component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CA1FC8-63DB-4558-9943-C64B07CA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 descr="A picture containing shovel, game&#10;&#10;Description automatically generated">
            <a:extLst>
              <a:ext uri="{FF2B5EF4-FFF2-40B4-BE49-F238E27FC236}">
                <a16:creationId xmlns:a16="http://schemas.microsoft.com/office/drawing/2014/main" id="{7D6BCA4B-810B-443F-BCEF-478977ED0F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734" r="39584"/>
          <a:stretch/>
        </p:blipFill>
        <p:spPr>
          <a:xfrm>
            <a:off x="10895166" y="852772"/>
            <a:ext cx="679441" cy="3452169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FAD56A01-3FCA-684B-BD91-7A6AAC655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2052" name="Picture 4" descr="Red Spade Realty | LinkedIn">
            <a:extLst>
              <a:ext uri="{FF2B5EF4-FFF2-40B4-BE49-F238E27FC236}">
                <a16:creationId xmlns:a16="http://schemas.microsoft.com/office/drawing/2014/main" id="{20E77CE9-D80E-4C41-B267-3A3F310FD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000" y1="43500" x2="49500" y2="48000"/>
                        <a14:foregroundMark x1="53500" y1="41500" x2="53500" y2="41500"/>
                        <a14:foregroundMark x1="47000" y1="38500" x2="47000" y2="38500"/>
                        <a14:foregroundMark x1="28500" y1="18500" x2="39000" y2="69500"/>
                        <a14:foregroundMark x1="39000" y1="69500" x2="38500" y2="61000"/>
                        <a14:foregroundMark x1="19000" y1="34500" x2="19000" y2="34500"/>
                        <a14:foregroundMark x1="23000" y1="30500" x2="23000" y2="30500"/>
                        <a14:foregroundMark x1="35000" y1="14500" x2="14000" y2="66000"/>
                        <a14:foregroundMark x1="14000" y1="66000" x2="59500" y2="86500"/>
                        <a14:foregroundMark x1="59500" y1="86500" x2="89500" y2="44000"/>
                        <a14:foregroundMark x1="89500" y1="44000" x2="53000" y2="10500"/>
                        <a14:foregroundMark x1="53000" y1="10500" x2="38500" y2="11500"/>
                        <a14:foregroundMark x1="17000" y1="34500" x2="13000" y2="4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9217" y="4734116"/>
            <a:ext cx="971337" cy="97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063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CCA0D5-A95C-4411-A1DE-217D54C96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Raising Tickets // Description Field (4/6)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7F3C7-C42E-49BD-84AA-248AE14D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33" dirty="0"/>
              <a:t>The “Live” Part of the Definition of Done Approach (1/2)</a:t>
            </a:r>
            <a:endParaRPr lang="en-US" sz="1867" dirty="0"/>
          </a:p>
          <a:p>
            <a:pPr lvl="1"/>
            <a:r>
              <a:rPr lang="en-US" sz="1867" dirty="0"/>
              <a:t>Ticket author should try to take the first stab at the DoD</a:t>
            </a:r>
          </a:p>
          <a:p>
            <a:pPr lvl="1"/>
            <a:r>
              <a:rPr lang="en-US" sz="1867" dirty="0"/>
              <a:t>Team leads (tech lead, product lead, etc) beef it up / flesh it out through ticket lifecycle</a:t>
            </a:r>
          </a:p>
          <a:p>
            <a:pPr lvl="1"/>
            <a:r>
              <a:rPr lang="en-US" sz="1867" dirty="0"/>
              <a:t>Key responsibility of leads is to add this flesh during the period that the ticket is in the backlog and make sure ticket is fully DoD-ed by the time it reaches the top of the backlog</a:t>
            </a:r>
          </a:p>
          <a:p>
            <a:pPr lvl="1"/>
            <a:r>
              <a:rPr lang="en-US" sz="1867" dirty="0"/>
              <a:t>Icons are used to indicate status</a:t>
            </a:r>
          </a:p>
          <a:p>
            <a:pPr lvl="2"/>
            <a:r>
              <a:rPr lang="en-US" sz="1600" dirty="0"/>
              <a:t>     (!)  Open - Needs to be done but not done yet</a:t>
            </a:r>
          </a:p>
          <a:p>
            <a:pPr lvl="2"/>
            <a:r>
              <a:rPr lang="en-US" sz="1600" dirty="0"/>
              <a:t>     (?) Questionable - May or may not need to be done</a:t>
            </a:r>
          </a:p>
          <a:p>
            <a:pPr lvl="2"/>
            <a:r>
              <a:rPr lang="en-US" sz="1600" dirty="0"/>
              <a:t>     (x) Skipped - Did not need to be done after all</a:t>
            </a:r>
          </a:p>
          <a:p>
            <a:pPr lvl="2"/>
            <a:r>
              <a:rPr lang="en-US" sz="1600" dirty="0"/>
              <a:t>     (/)  Done</a:t>
            </a:r>
          </a:p>
          <a:p>
            <a:pPr lvl="1"/>
            <a:r>
              <a:rPr lang="en-US" sz="1867" dirty="0"/>
              <a:t>Icons updated as tasks in the list are worked</a:t>
            </a:r>
          </a:p>
          <a:p>
            <a:pPr lvl="1"/>
            <a:r>
              <a:rPr lang="en-US" sz="1867" dirty="0"/>
              <a:t>Sub-bullets added with pertinent information when Done or Skipped is not self-explanatory</a:t>
            </a:r>
          </a:p>
          <a:p>
            <a:pPr lvl="2"/>
            <a:r>
              <a:rPr lang="en-US" sz="1667" dirty="0"/>
              <a:t>Especially important on Skipped // Indicates to a reader why it was decided not to be done</a:t>
            </a:r>
          </a:p>
          <a:p>
            <a:pPr lvl="1"/>
            <a:r>
              <a:rPr lang="en-US" sz="1867" dirty="0"/>
              <a:t>(… continued on next slide …)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CA1FC8-63DB-4558-9943-C64B07CA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DEC129-882E-4471-A1C8-53E79303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460" y="3127667"/>
            <a:ext cx="203175" cy="2031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7F4912E-1185-4CC3-9ED8-1C2AB8175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80" y="3408985"/>
            <a:ext cx="203175" cy="2031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6183494-F1F8-4ADD-A451-0DBD67A7F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79" y="3971621"/>
            <a:ext cx="203175" cy="2031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AC8FAA6-27C2-468E-A3C8-26FFFA575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779" y="3690303"/>
            <a:ext cx="203175" cy="203175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F3B23458-5103-46CF-B8E1-CDC9E43C6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196" y="3065404"/>
            <a:ext cx="1750152" cy="1099653"/>
          </a:xfrm>
          <a:prstGeom prst="rect">
            <a:avLst/>
          </a:prstGeom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2EC421DC-D464-2D4D-ABE2-BF4B3F04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832168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CCA0D5-A95C-4411-A1DE-217D54C96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Raising Tickets // Description Field (5/6)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7F3C7-C42E-49BD-84AA-248AE14D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33" dirty="0"/>
              <a:t>The “Live” Part of the Definition of Done Approach (2/2)</a:t>
            </a:r>
            <a:endParaRPr lang="en-US" sz="1867" dirty="0"/>
          </a:p>
          <a:p>
            <a:pPr lvl="1"/>
            <a:r>
              <a:rPr lang="en-US" sz="1867" dirty="0"/>
              <a:t>List often evolves as work progresses</a:t>
            </a:r>
          </a:p>
          <a:p>
            <a:pPr lvl="2"/>
            <a:r>
              <a:rPr lang="en-US" sz="1600" dirty="0"/>
              <a:t>Wording may be finessed for clarity and scope may be added as required (note //not// deleted)</a:t>
            </a:r>
          </a:p>
          <a:p>
            <a:pPr lvl="2"/>
            <a:r>
              <a:rPr lang="en-US" sz="1667" dirty="0"/>
              <a:t>Scope never wholesale removed (deleted) from the Definition of Done</a:t>
            </a:r>
          </a:p>
          <a:p>
            <a:pPr lvl="2"/>
            <a:r>
              <a:rPr lang="en-US" sz="1667" dirty="0"/>
              <a:t>Instead, either use text formatting to strike-through the text and add a new sub-bullet explaining the reason for the change</a:t>
            </a:r>
          </a:p>
          <a:p>
            <a:pPr lvl="2"/>
            <a:r>
              <a:rPr lang="en-US" sz="1667" dirty="0"/>
              <a:t>Alternatively, if the item was set as an Open item (!) and we decide not to do it, just change to a Skip (x) and absolutely always add a new sub-bullet</a:t>
            </a:r>
          </a:p>
          <a:p>
            <a:pPr lvl="1"/>
            <a:r>
              <a:rPr lang="en-US" sz="1867" dirty="0"/>
              <a:t>If the DoD is iterated heavily through the life of the ticket (it happens – but not often) it can become very messy with lots of strike through.  In this case cut and paste old version into a comment, say something along the lines of “The previous DoD is no longer appropriate.  Archiving previous one as follows;”, and then replace with cleaned version in description.</a:t>
            </a:r>
            <a:endParaRPr lang="en-GB" dirty="0"/>
          </a:p>
          <a:p>
            <a:r>
              <a:rPr lang="en-US" sz="2133" dirty="0"/>
              <a:t>Are we “DONE” yet?</a:t>
            </a:r>
            <a:endParaRPr lang="en-US" sz="1867" dirty="0"/>
          </a:p>
          <a:p>
            <a:pPr lvl="1"/>
            <a:r>
              <a:rPr lang="en-GB" sz="1867" dirty="0"/>
              <a:t>The ticket is ready for closure if and only if;</a:t>
            </a:r>
          </a:p>
          <a:p>
            <a:pPr lvl="2"/>
            <a:r>
              <a:rPr lang="en-GB" sz="1600" dirty="0"/>
              <a:t>All items must be either      or     </a:t>
            </a:r>
          </a:p>
          <a:p>
            <a:pPr lvl="2"/>
            <a:r>
              <a:rPr lang="en-GB" sz="1600" dirty="0"/>
              <a:t>No      or      items are acceptable</a:t>
            </a:r>
            <a:endParaRPr lang="en-US" sz="1600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CA1FC8-63DB-4558-9943-C64B07CA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30B411-5E5E-4EE6-8C5E-217D66EF0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844" y="5346912"/>
            <a:ext cx="203175" cy="203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90ACD7-B7CE-4317-9A27-4F21D158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166" y="5346912"/>
            <a:ext cx="203175" cy="203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2B8733-56B1-4E40-9DA9-93AB1BF0D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410" y="5622288"/>
            <a:ext cx="203175" cy="203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15E6BC-53CF-4307-B2E1-C1D454AF9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8905" y="5628003"/>
            <a:ext cx="203175" cy="203175"/>
          </a:xfrm>
          <a:prstGeom prst="rect">
            <a:avLst/>
          </a:prstGeom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1923E8E0-CC9F-B048-B61D-3CB11B2F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3111C4-69F2-4D6A-B074-B11F1B2D0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917" y="4790933"/>
            <a:ext cx="1962597" cy="196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20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CCA0D5-A95C-4411-A1DE-217D54C96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Raising Tickets // Description Field (6/6)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7F3C7-C42E-49BD-84AA-248AE14D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33" dirty="0"/>
              <a:t>Pro-Level Definitions of Done – the Individual Assignment</a:t>
            </a:r>
            <a:endParaRPr lang="en-US" sz="1867" dirty="0"/>
          </a:p>
          <a:p>
            <a:pPr lvl="1"/>
            <a:r>
              <a:rPr lang="en-US" sz="1867" dirty="0"/>
              <a:t>Often DoD items are best done by a specific person</a:t>
            </a:r>
          </a:p>
          <a:p>
            <a:pPr lvl="2"/>
            <a:r>
              <a:rPr lang="en-US" sz="1667" dirty="0"/>
              <a:t>… or team, or location, or company</a:t>
            </a:r>
          </a:p>
          <a:p>
            <a:pPr lvl="1"/>
            <a:r>
              <a:rPr lang="en-US" sz="1867" dirty="0"/>
              <a:t>In these cases there is a markup pattern to note the “assignment” directly in the DoD</a:t>
            </a:r>
          </a:p>
          <a:p>
            <a:pPr lvl="1"/>
            <a:r>
              <a:rPr lang="en-US" sz="1867" dirty="0"/>
              <a:t>If this is desired the DoD should include a square-brackets prefix;</a:t>
            </a:r>
          </a:p>
          <a:p>
            <a:pPr lvl="2"/>
            <a:r>
              <a:rPr lang="en-US" sz="1667" dirty="0"/>
              <a:t>[UPPERCASE INITIALS] for a //person//</a:t>
            </a:r>
          </a:p>
          <a:p>
            <a:pPr lvl="2"/>
            <a:r>
              <a:rPr lang="en-US" sz="1667" dirty="0"/>
              <a:t>[lowercase reference] for a team, location, company</a:t>
            </a:r>
          </a:p>
          <a:p>
            <a:pPr lvl="2"/>
            <a:r>
              <a:rPr lang="en-US" sz="1667" dirty="0"/>
              <a:t>[all] for “everyone”</a:t>
            </a:r>
          </a:p>
          <a:p>
            <a:pPr lvl="1"/>
            <a:r>
              <a:rPr lang="en-US" sz="1867" dirty="0"/>
              <a:t>Examples;</a:t>
            </a:r>
          </a:p>
          <a:p>
            <a:pPr lvl="2"/>
            <a:r>
              <a:rPr lang="en-US" sz="1667" dirty="0"/>
              <a:t>[JD] Update the ICD</a:t>
            </a:r>
          </a:p>
          <a:p>
            <a:pPr lvl="2"/>
            <a:r>
              <a:rPr lang="en-US" sz="1667" dirty="0"/>
              <a:t>[</a:t>
            </a:r>
            <a:r>
              <a:rPr lang="en-US" sz="1667" dirty="0" err="1"/>
              <a:t>sv_sw</a:t>
            </a:r>
            <a:r>
              <a:rPr lang="en-US" sz="1667" dirty="0"/>
              <a:t>] Report on algorithm for SV power control loop</a:t>
            </a:r>
          </a:p>
          <a:p>
            <a:pPr lvl="2"/>
            <a:r>
              <a:rPr lang="en-US" sz="1667" dirty="0"/>
              <a:t>[</a:t>
            </a:r>
            <a:r>
              <a:rPr lang="en-US" sz="1667" dirty="0" err="1"/>
              <a:t>tsc</a:t>
            </a:r>
            <a:r>
              <a:rPr lang="en-US" sz="1667" dirty="0"/>
              <a:t>] Set up test environment</a:t>
            </a:r>
          </a:p>
          <a:p>
            <a:pPr lvl="2"/>
            <a:r>
              <a:rPr lang="en-US" sz="1667" dirty="0"/>
              <a:t>[</a:t>
            </a:r>
            <a:r>
              <a:rPr lang="en-US" sz="1667" dirty="0" err="1"/>
              <a:t>irdm</a:t>
            </a:r>
            <a:r>
              <a:rPr lang="en-US" sz="1667" dirty="0"/>
              <a:t>] Initiate sequence to benefit all mankind</a:t>
            </a:r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CA1FC8-63DB-4558-9943-C64B07CA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1923E8E0-CC9F-B048-B61D-3CB11B2F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14F0EE-9AF4-B741-899A-26E92B63C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580" y="3220842"/>
            <a:ext cx="2846070" cy="279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11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E02011-FDAD-4E22-A186-E148FB8F8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 of Done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D6178B-FD51-4FE2-BF83-2FE42583E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133" dirty="0"/>
              <a:t>Initial Creation (absolute minimum)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*Definition of Done*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 (!) &lt;DoD to be created&gt;</a:t>
            </a:r>
          </a:p>
          <a:p>
            <a:pPr marL="0" indent="0">
              <a:buNone/>
            </a:pPr>
            <a:endParaRPr lang="en-GB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067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067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067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067" dirty="0">
              <a:latin typeface="Consolas" panose="020B0609020204030204" pitchFamily="49" charset="0"/>
            </a:endParaRPr>
          </a:p>
          <a:p>
            <a:r>
              <a:rPr lang="en-GB" sz="2133" dirty="0"/>
              <a:t>Ticket Being Worked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*Definition of Done*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 (/) [GC] Discuss user story among stakeholders</a:t>
            </a:r>
          </a:p>
          <a:p>
            <a:r>
              <a:rPr lang="en-GB" sz="1100" dirty="0">
                <a:latin typeface="Consolas" panose="020B0609020204030204" pitchFamily="49" charset="0"/>
              </a:rPr>
              <a:t>* (/) [all] Agree command format and update ICD</a:t>
            </a:r>
          </a:p>
          <a:p>
            <a:r>
              <a:rPr lang="en-GB" sz="1100" dirty="0">
                <a:latin typeface="Consolas" panose="020B0609020204030204" pitchFamily="49" charset="0"/>
              </a:rPr>
              <a:t>** ICD updated to v1.4 per [this attachment]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 (!) Add handling for operationalState command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 (!) Add API for access to TRX operationalState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 (?) [</a:t>
            </a:r>
            <a:r>
              <a:rPr lang="en-GB" sz="1100" dirty="0" err="1">
                <a:latin typeface="Consolas" panose="020B0609020204030204" pitchFamily="49" charset="0"/>
              </a:rPr>
              <a:t>tsc</a:t>
            </a:r>
            <a:r>
              <a:rPr lang="en-GB" sz="1100" dirty="0">
                <a:latin typeface="Consolas" panose="020B0609020204030204" pitchFamily="49" charset="0"/>
              </a:rPr>
              <a:t>] Update/implement unit tests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9CF8E2-C5C7-4F3E-8315-2A239580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9ADE49-84F0-4C47-854D-16BEBF7DB4D7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364875" y="1169088"/>
            <a:ext cx="5389562" cy="4362450"/>
          </a:xfrm>
        </p:spPr>
        <p:txBody>
          <a:bodyPr/>
          <a:lstStyle/>
          <a:p>
            <a:r>
              <a:rPr lang="en-GB" sz="2133" dirty="0"/>
              <a:t>Final DoD (when ticket is closed)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*Definition of Done*</a:t>
            </a:r>
          </a:p>
          <a:p>
            <a:r>
              <a:rPr lang="en-GB" sz="1100" dirty="0">
                <a:latin typeface="Consolas" panose="020B0609020204030204" pitchFamily="49" charset="0"/>
              </a:rPr>
              <a:t>* (/) [GC] Discuss user story among stakeholders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 (/) [all] Agree command format and update ICD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** ICD updated to v1.4 per [this attachment]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 (/) Add handling for operationalState command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 (/) Add API for access to TRX operationalState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 (x) [</a:t>
            </a:r>
            <a:r>
              <a:rPr lang="en-GB" sz="1100" dirty="0" err="1">
                <a:latin typeface="Consolas" panose="020B0609020204030204" pitchFamily="49" charset="0"/>
              </a:rPr>
              <a:t>tsc</a:t>
            </a:r>
            <a:r>
              <a:rPr lang="en-GB" sz="1100" dirty="0">
                <a:latin typeface="Consolas" panose="020B0609020204030204" pitchFamily="49" charset="0"/>
              </a:rPr>
              <a:t>] Update/implement unit tests</a:t>
            </a:r>
          </a:p>
          <a:p>
            <a:pPr marL="0" indent="0">
              <a:buNone/>
            </a:pPr>
            <a:r>
              <a:rPr lang="en-GB" sz="1100" dirty="0">
                <a:latin typeface="Consolas" panose="020B0609020204030204" pitchFamily="49" charset="0"/>
              </a:rPr>
              <a:t>** No unit tests needed to be updated since none of the internal libraries needed to change.</a:t>
            </a:r>
          </a:p>
        </p:txBody>
      </p:sp>
      <p:pic>
        <p:nvPicPr>
          <p:cNvPr id="9" name="Picture 8" descr="Shape, arrow&#10;&#10;Description automatically generated">
            <a:extLst>
              <a:ext uri="{FF2B5EF4-FFF2-40B4-BE49-F238E27FC236}">
                <a16:creationId xmlns:a16="http://schemas.microsoft.com/office/drawing/2014/main" id="{65D67DB1-61E4-4812-84E9-227A9B2BD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9" b="89844" l="4004" r="92969">
                        <a14:foregroundMark x1="68262" y1="26563" x2="68262" y2="26563"/>
                        <a14:foregroundMark x1="90625" y1="6152" x2="90625" y2="6152"/>
                        <a14:foregroundMark x1="93066" y1="3906" x2="93066" y2="3906"/>
                        <a14:foregroundMark x1="51367" y1="31836" x2="51367" y2="31836"/>
                        <a14:foregroundMark x1="52344" y1="33789" x2="52344" y2="33789"/>
                        <a14:foregroundMark x1="27832" y1="60156" x2="27832" y2="60156"/>
                        <a14:foregroundMark x1="33496" y1="61035" x2="33496" y2="61035"/>
                        <a14:foregroundMark x1="28418" y1="50098" x2="42285" y2="64844"/>
                        <a14:foregroundMark x1="8691" y1="57910" x2="8691" y2="57910"/>
                        <a14:foregroundMark x1="4004" y1="58496" x2="4004" y2="58496"/>
                        <a14:foregroundMark x1="57617" y1="29688" x2="57617" y2="29688"/>
                        <a14:foregroundMark x1="58887" y1="29688" x2="58887" y2="29688"/>
                        <a14:foregroundMark x1="49121" y1="41309" x2="49121" y2="41309"/>
                        <a14:foregroundMark x1="45117" y1="41895" x2="35352" y2="38184"/>
                        <a14:foregroundMark x1="58301" y1="41602" x2="58594" y2="46289"/>
                        <a14:foregroundMark x1="38477" y1="51660" x2="40723" y2="54102"/>
                        <a14:foregroundMark x1="36914" y1="62891" x2="62012" y2="56055"/>
                        <a14:foregroundMark x1="51953" y1="64355" x2="51953" y2="64355"/>
                        <a14:foregroundMark x1="44727" y1="65625" x2="67969" y2="52930"/>
                        <a14:foregroundMark x1="67969" y1="52930" x2="68262" y2="47363"/>
                        <a14:foregroundMark x1="57617" y1="87207" x2="57617" y2="87207"/>
                        <a14:foregroundMark x1="51074" y1="88477" x2="51074" y2="88477"/>
                        <a14:foregroundMark x1="47559" y1="88770" x2="32227" y2="859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36619" y="4508256"/>
            <a:ext cx="1821237" cy="1821237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E297F38-0CC9-AE4F-A534-6560F7B9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1026" name="Picture 2" descr="Working Progress | lospruebapiloto">
            <a:extLst>
              <a:ext uri="{FF2B5EF4-FFF2-40B4-BE49-F238E27FC236}">
                <a16:creationId xmlns:a16="http://schemas.microsoft.com/office/drawing/2014/main" id="{67EF3270-1122-F04A-AE75-ECE8C13FC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86" b="97429" l="2429" r="97429">
                        <a14:foregroundMark x1="49857" y1="7857" x2="49857" y2="7857"/>
                        <a14:foregroundMark x1="51143" y1="4429" x2="51143" y2="4429"/>
                        <a14:foregroundMark x1="49857" y1="1286" x2="49857" y2="1286"/>
                        <a14:foregroundMark x1="91000" y1="50143" x2="91000" y2="50143"/>
                        <a14:foregroundMark x1="94571" y1="48143" x2="94571" y2="48143"/>
                        <a14:foregroundMark x1="97714" y1="50571" x2="97714" y2="50571"/>
                        <a14:foregroundMark x1="51571" y1="91429" x2="51571" y2="91429"/>
                        <a14:foregroundMark x1="50571" y1="97571" x2="50571" y2="97571"/>
                        <a14:foregroundMark x1="8429" y1="50571" x2="8429" y2="50571"/>
                        <a14:foregroundMark x1="2429" y1="51000" x2="2429" y2="51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619" y="1841129"/>
            <a:ext cx="1767908" cy="176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5BB75CD-1D6D-794E-84D5-7AA78C9685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837" y="4235524"/>
            <a:ext cx="34036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99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D72ECF-3BCC-4539-B38D-1A1644A1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Raising Tickets // Imperative Mood (Advanced Topic)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998156-0E5F-4851-98EA-46F1076CF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33" dirty="0"/>
              <a:t>Ticket Summary and DoD Bullets should be in imperative mood // “a Call to Action”</a:t>
            </a:r>
          </a:p>
          <a:p>
            <a:pPr lvl="1"/>
            <a:r>
              <a:rPr lang="en-US" sz="1867" dirty="0"/>
              <a:t>Definition: “The imperative mood is a grammatical mood that forms a command or request.”</a:t>
            </a:r>
          </a:p>
          <a:p>
            <a:pPr lvl="2"/>
            <a:r>
              <a:rPr lang="en-US" sz="1600" dirty="0"/>
              <a:t>(I had to look it up too.)</a:t>
            </a:r>
          </a:p>
          <a:p>
            <a:pPr lvl="1"/>
            <a:r>
              <a:rPr lang="en-US" sz="1867" dirty="0"/>
              <a:t>Example: “Update SSDI Table” vs “Consider Updating SSDI Table”</a:t>
            </a:r>
          </a:p>
          <a:p>
            <a:pPr lvl="2"/>
            <a:r>
              <a:rPr lang="en-US" sz="1600" dirty="0"/>
              <a:t>If a ticket with the title “Update SSDI Table” is DONE it is clear what the decision was – we updated the Updated the SSDI Table</a:t>
            </a:r>
          </a:p>
          <a:p>
            <a:pPr lvl="2"/>
            <a:r>
              <a:rPr lang="en-US" sz="1600" dirty="0"/>
              <a:t>If a ticket with the tile “Consider Updating…” is DONE the conclusion is unclear – Did we choose not to consider it?  Or did we consider it and decide not to do it?  Or did we consider it and do something else?</a:t>
            </a:r>
          </a:p>
          <a:p>
            <a:pPr lvl="2"/>
            <a:r>
              <a:rPr lang="en-US" sz="1600" dirty="0"/>
              <a:t>(Similar logic applies to a REJECT-ed ticket.)</a:t>
            </a:r>
            <a:endParaRPr lang="en-US" sz="2133" dirty="0"/>
          </a:p>
          <a:p>
            <a:endParaRPr lang="en-GB" sz="2133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23D8F1-6AAA-4446-92CD-CF63206D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4" name="Picture 13" descr="A telephone on a desk&#10;&#10;Description automatically generated">
            <a:extLst>
              <a:ext uri="{FF2B5EF4-FFF2-40B4-BE49-F238E27FC236}">
                <a16:creationId xmlns:a16="http://schemas.microsoft.com/office/drawing/2014/main" id="{C12B67DE-E709-4324-8684-82B9098418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992"/>
          <a:stretch/>
        </p:blipFill>
        <p:spPr>
          <a:xfrm>
            <a:off x="2054262" y="4281860"/>
            <a:ext cx="2148845" cy="1475109"/>
          </a:xfrm>
          <a:prstGeom prst="rect">
            <a:avLst/>
          </a:prstGeom>
        </p:spPr>
      </p:pic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FED3FB7E-60CC-4406-B961-7F18999BA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523" y="4488948"/>
            <a:ext cx="1179259" cy="1179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F6871B-FD4C-45BF-8E45-3144378A7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412" y="4218865"/>
            <a:ext cx="1473009" cy="1601097"/>
          </a:xfrm>
          <a:prstGeom prst="rect">
            <a:avLst/>
          </a:prstGeom>
        </p:spPr>
      </p:pic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745E8BD1-9814-3D40-8193-39E5ECE9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519971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CA508-2041-43E5-833F-467B35124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Journey to Enlightenment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A8795D-C7C4-4575-809B-845DFFF8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6490" y="1228726"/>
            <a:ext cx="5091956" cy="4984648"/>
          </a:xfrm>
        </p:spPr>
        <p:txBody>
          <a:bodyPr/>
          <a:lstStyle/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Raising Tickets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Ticket Summary Field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Ticket Description Field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Ticket “Definition of Done”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Comment Threads (3)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TL;DRs (2)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Ticket Workflow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Kanban Board (1)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Backlogs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(?) Team Leads (1) [optional]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(?) Software Specific (3) [optional]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Ticket Miscellany 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8CD044-537F-4AAF-9C3E-4E7EB80E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F8F2AC7-A944-DA4E-8603-5F094326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11" name="Picture 10" descr="A picture containing logo&#10;&#10;Description automatically generated">
            <a:extLst>
              <a:ext uri="{FF2B5EF4-FFF2-40B4-BE49-F238E27FC236}">
                <a16:creationId xmlns:a16="http://schemas.microsoft.com/office/drawing/2014/main" id="{71943154-5D18-584F-9BD5-89463C0A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26" y="1306934"/>
            <a:ext cx="4433670" cy="443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96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97B979-4AF2-4535-A245-7730DACD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Ticket Comment Threads (1/3)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9C6BAB-3056-4F3C-8A67-A302CAE3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33" dirty="0"/>
              <a:t>Comment thread in ticket is for...</a:t>
            </a:r>
          </a:p>
          <a:p>
            <a:pPr lvl="1"/>
            <a:r>
              <a:rPr lang="en-US" sz="1867" dirty="0"/>
              <a:t>Questions, answers, and reasons for decisions made</a:t>
            </a:r>
          </a:p>
          <a:p>
            <a:pPr lvl="1"/>
            <a:r>
              <a:rPr lang="en-US" sz="1867" dirty="0"/>
              <a:t>Succinct findings summaries</a:t>
            </a:r>
          </a:p>
          <a:p>
            <a:pPr lvl="1"/>
            <a:r>
              <a:rPr lang="en-US" sz="1867" dirty="0"/>
              <a:t>Milestone updates (e.g. communicate status)</a:t>
            </a:r>
          </a:p>
          <a:p>
            <a:pPr lvl="1"/>
            <a:r>
              <a:rPr lang="en-US" sz="1867" dirty="0"/>
              <a:t>TL;DR (more on this later)</a:t>
            </a:r>
          </a:p>
          <a:p>
            <a:r>
              <a:rPr lang="en-US" sz="2133" dirty="0"/>
              <a:t>Comment thread in ticket is //not// for…</a:t>
            </a:r>
          </a:p>
          <a:p>
            <a:pPr lvl="1"/>
            <a:r>
              <a:rPr lang="en-US" sz="1867" dirty="0"/>
              <a:t>Cut/paste logs, paragraphs upon paragraphs of content, etc</a:t>
            </a:r>
          </a:p>
          <a:p>
            <a:r>
              <a:rPr lang="en-US" sz="2133" dirty="0">
                <a:sym typeface="Wingdings" pitchFamily="2" charset="2"/>
              </a:rPr>
              <a:t>Frequent comments help Kanban board show state of work</a:t>
            </a:r>
            <a:endParaRPr lang="en-US" sz="1400" dirty="0">
              <a:sym typeface="Wingdings" pitchFamily="2" charset="2"/>
            </a:endParaRPr>
          </a:p>
          <a:p>
            <a:pPr lvl="1"/>
            <a:r>
              <a:rPr lang="en-US" sz="1867" dirty="0"/>
              <a:t>Updates every 2 to 3 days may be appropriate for most tickets</a:t>
            </a:r>
          </a:p>
          <a:p>
            <a:pPr lvl="2"/>
            <a:r>
              <a:rPr lang="en-US" sz="1600" dirty="0"/>
              <a:t>If you are 100% on a project then try to keep tickets “green” or at worst case “yellow” as a course of habit (more about colors and where they are seen later)</a:t>
            </a:r>
          </a:p>
          <a:p>
            <a:pPr lvl="2"/>
            <a:r>
              <a:rPr lang="en-US" sz="1600" dirty="0"/>
              <a:t>Even one-line comments are a very useful update – doesn’t have to be a major breakthrough (but not just “Still in progress.”)</a:t>
            </a:r>
          </a:p>
          <a:p>
            <a:r>
              <a:rPr lang="en-GB" sz="2133" dirty="0"/>
              <a:t>Comment discussions may seed tangential work</a:t>
            </a:r>
          </a:p>
          <a:p>
            <a:pPr lvl="1"/>
            <a:r>
              <a:rPr lang="en-GB" sz="1867" dirty="0"/>
              <a:t>Fork new work into a separate ticket</a:t>
            </a:r>
          </a:p>
          <a:p>
            <a:pPr lvl="2"/>
            <a:r>
              <a:rPr lang="en-GB" sz="1600" dirty="0"/>
              <a:t>(and do not carry-on talking about the forked issue in original thread)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D90761-EE12-4A2A-8094-41FCBBFA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DD750731-3BE9-43CF-A418-AB9104503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6212" y="1275483"/>
            <a:ext cx="2417855" cy="1922194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286C95BD-053E-E842-ABA5-1D84B7F7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1412795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ext, whiteboard&#10;&#10;Description automatically generated">
            <a:extLst>
              <a:ext uri="{FF2B5EF4-FFF2-40B4-BE49-F238E27FC236}">
                <a16:creationId xmlns:a16="http://schemas.microsoft.com/office/drawing/2014/main" id="{BFCF8791-0D93-4B9D-AA0B-D228A884B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238" y="4833194"/>
            <a:ext cx="1400296" cy="112023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397B979-4AF2-4535-A245-7730DACD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Ticket Comment Threads (2/3)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9C6BAB-3056-4F3C-8A67-A302CAE3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33" dirty="0">
                <a:sym typeface="Wingdings" pitchFamily="2" charset="2"/>
              </a:rPr>
              <a:t>Comment Best-Practices (ditto for Descriptions)</a:t>
            </a:r>
          </a:p>
          <a:p>
            <a:pPr lvl="1"/>
            <a:r>
              <a:rPr lang="en-US" sz="1867" dirty="0">
                <a:sym typeface="Wingdings" pitchFamily="2" charset="2"/>
              </a:rPr>
              <a:t>Include a link to any attachments in the comment</a:t>
            </a:r>
          </a:p>
          <a:p>
            <a:pPr lvl="2"/>
            <a:r>
              <a:rPr lang="en-US" sz="1600" dirty="0">
                <a:sym typeface="Wingdings" pitchFamily="2" charset="2"/>
              </a:rPr>
              <a:t>Don’t just say “the stuff is attached” (Which one of the 10 attachments?)</a:t>
            </a:r>
          </a:p>
          <a:p>
            <a:pPr lvl="2"/>
            <a:r>
              <a:rPr lang="en-US" sz="1600" dirty="0">
                <a:sym typeface="Wingdings" pitchFamily="2" charset="2"/>
              </a:rPr>
              <a:t>“See document v2.1” is also bad (someone may attach a different file with the same “v”)</a:t>
            </a:r>
          </a:p>
          <a:p>
            <a:pPr lvl="1"/>
            <a:r>
              <a:rPr lang="en-US" sz="1867" dirty="0">
                <a:sym typeface="Wingdings" pitchFamily="2" charset="2"/>
              </a:rPr>
              <a:t>Use bullet points to make your content easily grok-able</a:t>
            </a:r>
          </a:p>
          <a:p>
            <a:pPr lvl="1"/>
            <a:r>
              <a:rPr lang="en-US" sz="1867" dirty="0">
                <a:sym typeface="Wingdings" pitchFamily="2" charset="2"/>
              </a:rPr>
              <a:t>Include logs and source snippets over ~10 lines as attachments - not in comment body</a:t>
            </a:r>
          </a:p>
          <a:p>
            <a:pPr lvl="1"/>
            <a:r>
              <a:rPr lang="en-US" sz="1867" dirty="0">
                <a:sym typeface="Wingdings" pitchFamily="2" charset="2"/>
              </a:rPr>
              <a:t>Use formatting (emphasis and code markup) to improve readability</a:t>
            </a:r>
          </a:p>
          <a:p>
            <a:pPr lvl="1"/>
            <a:r>
              <a:rPr lang="en-US" sz="1867" dirty="0">
                <a:sym typeface="Wingdings" pitchFamily="2" charset="2"/>
              </a:rPr>
              <a:t>Use link syntax instead of relying on URL auto-linking</a:t>
            </a:r>
          </a:p>
          <a:p>
            <a:pPr lvl="2"/>
            <a:r>
              <a:rPr lang="en-US" sz="1600" dirty="0">
                <a:sym typeface="Wingdings" pitchFamily="2" charset="2"/>
              </a:rPr>
              <a:t>“... the document at </a:t>
            </a:r>
            <a:r>
              <a:rPr lang="en-US" sz="1600" u="sng" dirty="0">
                <a:solidFill>
                  <a:srgbClr val="F1AB3D"/>
                </a:solidFill>
                <a:sym typeface="Wingdings" pitchFamily="2" charset="2"/>
              </a:rPr>
              <a:t>this link</a:t>
            </a:r>
            <a:r>
              <a:rPr lang="en-US" sz="1600" dirty="0">
                <a:sym typeface="Wingdings" pitchFamily="2" charset="2"/>
              </a:rPr>
              <a:t>” vs “... the document at  </a:t>
            </a:r>
            <a:r>
              <a:rPr lang="en-US" sz="1600" dirty="0">
                <a:sym typeface="Wingdings" pitchFamily="2" charset="2"/>
                <a:hlinkClick r:id="rId3"/>
              </a:rPr>
              <a:t>https://www.google.com/search?source=hp&amp;ei=jIFzX-brNLqyytMPqrCZyAw&amp;q=long+url&amp;oq=long+url&amp;gs_lcp=CgZwc3ktYWIQAQFhAeMgYIABAWEB4yBggAEBYSQHjIGCAAQFhAeOg4IABDq&amp;uact=5</a:t>
            </a:r>
            <a:r>
              <a:rPr lang="en-US" sz="1600" dirty="0">
                <a:sym typeface="Wingdings" pitchFamily="2" charset="2"/>
              </a:rPr>
              <a:t>”</a:t>
            </a:r>
          </a:p>
          <a:p>
            <a:pPr lvl="1"/>
            <a:r>
              <a:rPr lang="en-US" sz="1867" dirty="0">
                <a:sym typeface="Wingdings" pitchFamily="2" charset="2"/>
              </a:rPr>
              <a:t>Do not cut/paste contents from emails verbatim</a:t>
            </a:r>
          </a:p>
          <a:p>
            <a:pPr lvl="2"/>
            <a:r>
              <a:rPr lang="en-US" sz="1600" dirty="0">
                <a:sym typeface="Wingdings" pitchFamily="2" charset="2"/>
              </a:rPr>
              <a:t>Attach PDF or distill/linearize to highlight important bits and remove cruft</a:t>
            </a:r>
          </a:p>
          <a:p>
            <a:pPr lvl="1"/>
            <a:r>
              <a:rPr lang="en-US" sz="1867" dirty="0">
                <a:sym typeface="Wingdings" pitchFamily="2" charset="2"/>
              </a:rPr>
              <a:t>Use proper grammar, spelling, capitalization, and periods</a:t>
            </a:r>
          </a:p>
          <a:p>
            <a:pPr lvl="1"/>
            <a:r>
              <a:rPr lang="en-US" sz="1867" dirty="0">
                <a:sym typeface="Wingdings" pitchFamily="2" charset="2"/>
              </a:rPr>
              <a:t>Proof-read your comment before clicking “submit”!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D90761-EE12-4A2A-8094-41FCBBFA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7FDF582D-056A-49D5-A59C-C4CD70C6B1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169" r="32939"/>
          <a:stretch/>
        </p:blipFill>
        <p:spPr>
          <a:xfrm>
            <a:off x="10608822" y="1052969"/>
            <a:ext cx="846925" cy="1365377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6E1513C8-B1E7-EC4E-BBEF-1E7CF707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756631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97B979-4AF2-4535-A245-7730DACD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Ticket Comment Threads (3/3)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9C6BAB-3056-4F3C-8A67-A302CAE3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33" dirty="0">
                <a:sym typeface="Wingdings" pitchFamily="2" charset="2"/>
              </a:rPr>
              <a:t>Done Means Done</a:t>
            </a:r>
          </a:p>
          <a:p>
            <a:pPr lvl="1"/>
            <a:r>
              <a:rPr lang="en-US" sz="1867" dirty="0">
                <a:sym typeface="Wingdings" pitchFamily="2" charset="2"/>
              </a:rPr>
              <a:t>Once a ticket is closed (“Complete”) no further //technical conversation// should happen on it</a:t>
            </a:r>
          </a:p>
          <a:p>
            <a:pPr lvl="1"/>
            <a:r>
              <a:rPr lang="en-US" sz="1867" dirty="0">
                <a:sym typeface="Wingdings" pitchFamily="2" charset="2"/>
              </a:rPr>
              <a:t>The only comment that should be added is the “Verification” comment (along the lines of “Feature has been verified. Test data is available </a:t>
            </a:r>
            <a:r>
              <a:rPr lang="en-US" sz="1867" u="sng" dirty="0">
                <a:solidFill>
                  <a:srgbClr val="F1AB3D"/>
                </a:solidFill>
                <a:sym typeface="Wingdings" pitchFamily="2" charset="2"/>
              </a:rPr>
              <a:t>here</a:t>
            </a:r>
            <a:r>
              <a:rPr lang="en-US" sz="1867" dirty="0">
                <a:sym typeface="Wingdings" pitchFamily="2" charset="2"/>
              </a:rPr>
              <a:t>.”)</a:t>
            </a:r>
          </a:p>
          <a:p>
            <a:pPr lvl="1"/>
            <a:r>
              <a:rPr lang="en-US" sz="1800" dirty="0">
                <a:sym typeface="Wingdings" pitchFamily="2" charset="2"/>
              </a:rPr>
              <a:t>If there is more to discuss then a new ticket needs to be opened (and mention in description the relationship to other ticket and link using JIRA ticket linking feature)</a:t>
            </a:r>
          </a:p>
          <a:p>
            <a:r>
              <a:rPr lang="en-US" sz="2133" dirty="0">
                <a:sym typeface="Wingdings" pitchFamily="2" charset="2"/>
              </a:rPr>
              <a:t>Comment Threads //are not// Email Threads</a:t>
            </a:r>
          </a:p>
          <a:p>
            <a:pPr lvl="1"/>
            <a:r>
              <a:rPr lang="en-US" sz="1867" dirty="0">
                <a:sym typeface="Wingdings" pitchFamily="2" charset="2"/>
              </a:rPr>
              <a:t>Email typically directed at single person (with others on copy as FYI)</a:t>
            </a:r>
          </a:p>
          <a:p>
            <a:pPr lvl="1"/>
            <a:r>
              <a:rPr lang="en-US" sz="1867" dirty="0">
                <a:sym typeface="Wingdings" pitchFamily="2" charset="2"/>
              </a:rPr>
              <a:t>JIRA comment is for //entire audience// reading comment thread</a:t>
            </a:r>
          </a:p>
          <a:p>
            <a:pPr lvl="1"/>
            <a:r>
              <a:rPr lang="en-US" sz="1867" dirty="0">
                <a:sym typeface="Wingdings" pitchFamily="2" charset="2"/>
              </a:rPr>
              <a:t>As such, a salutation and signature is unnecessary and discouraged</a:t>
            </a:r>
          </a:p>
          <a:p>
            <a:pPr lvl="1"/>
            <a:r>
              <a:rPr lang="en-US" sz="1867" dirty="0">
                <a:sym typeface="Wingdings" pitchFamily="2" charset="2"/>
              </a:rPr>
              <a:t>When comment author expects/intends a specific person reply or action the comment, assign the ticket to that person after adding your comment</a:t>
            </a:r>
          </a:p>
          <a:p>
            <a:pPr lvl="1"/>
            <a:r>
              <a:rPr lang="en-US" sz="1867" dirty="0">
                <a:sym typeface="Wingdings" pitchFamily="2" charset="2"/>
              </a:rPr>
              <a:t>Also can do "user mentions" to attract attention via email in prose of comment - typically at the end of the comment</a:t>
            </a:r>
          </a:p>
          <a:p>
            <a:pPr lvl="2"/>
            <a:r>
              <a:rPr lang="en-US" sz="1600" dirty="0">
                <a:sym typeface="Wingdings" pitchFamily="2" charset="2"/>
              </a:rPr>
              <a:t>e.g. "I think we should do X for the following reasons. ... Looking for                                            feedback from @user1, @user2, @user3."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D90761-EE12-4A2A-8094-41FCBBFA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1F64EC0-DC0F-4E9E-AF6F-8743E8CAD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5469" r="94271">
                        <a14:foregroundMark x1="14063" y1="50833" x2="55729" y2="52083"/>
                        <a14:foregroundMark x1="55729" y1="52083" x2="81510" y2="45000"/>
                        <a14:foregroundMark x1="10417" y1="34583" x2="10417" y2="34583"/>
                        <a14:foregroundMark x1="9896" y1="38750" x2="11198" y2="60000"/>
                        <a14:foregroundMark x1="21615" y1="27500" x2="49740" y2="22917"/>
                        <a14:foregroundMark x1="50000" y1="20417" x2="15625" y2="24583"/>
                        <a14:foregroundMark x1="6250" y1="28333" x2="8333" y2="75833"/>
                        <a14:foregroundMark x1="89583" y1="22917" x2="89844" y2="72083"/>
                        <a14:foregroundMark x1="89844" y1="72083" x2="41927" y2="84583"/>
                        <a14:foregroundMark x1="94271" y1="63333" x2="88281" y2="15417"/>
                        <a14:foregroundMark x1="88281" y1="15417" x2="82552" y2="11667"/>
                        <a14:foregroundMark x1="50521" y1="17083" x2="71615" y2="21667"/>
                        <a14:foregroundMark x1="86979" y1="32917" x2="76563" y2="52083"/>
                        <a14:foregroundMark x1="38021" y1="30000" x2="41406" y2="37083"/>
                        <a14:foregroundMark x1="15885" y1="62083" x2="17188" y2="73750"/>
                        <a14:foregroundMark x1="5469" y1="62917" x2="6771" y2="70417"/>
                        <a14:foregroundMark x1="9115" y1="85417" x2="40365" y2="88750"/>
                        <a14:foregroundMark x1="40365" y1="88750" x2="50000" y2="86250"/>
                        <a14:foregroundMark x1="14844" y1="58750" x2="48958" y2="66667"/>
                        <a14:foregroundMark x1="36198" y1="76250" x2="36198" y2="76250"/>
                        <a14:foregroundMark x1="33333" y1="77917" x2="33333" y2="77917"/>
                        <a14:foregroundMark x1="69531" y1="27083" x2="82292" y2="35833"/>
                        <a14:foregroundMark x1="89323" y1="78750" x2="69531" y2="83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57178" y="279608"/>
            <a:ext cx="1560576" cy="97536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0D518106-A6DE-45DC-9587-75D1917E0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874" y="2979465"/>
            <a:ext cx="1585120" cy="1272059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B249D496-2353-BF48-A630-CD60520B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1638933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742554-A743-4126-BA94-1AC1AC8E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Ticket Grand Finale // the TL;DR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85C0B-F8A6-48EF-A458-E643BE9F4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67" dirty="0"/>
              <a:t>A “TL;DR” is a summary of all the pertinent details of the whole ticket</a:t>
            </a:r>
          </a:p>
          <a:p>
            <a:pPr lvl="1"/>
            <a:r>
              <a:rPr lang="en-GB" sz="1600" dirty="0"/>
              <a:t>TL;DR == “Too Long; Didn’t Read” in Internet Slang (e.g. more fun name for “Executive Summary”)</a:t>
            </a:r>
          </a:p>
          <a:p>
            <a:r>
              <a:rPr lang="en-GB" sz="1867" dirty="0"/>
              <a:t>TL;DR should be notionally the last comment on the ticket</a:t>
            </a:r>
          </a:p>
          <a:p>
            <a:pPr lvl="1"/>
            <a:r>
              <a:rPr lang="en-GB" sz="1600" dirty="0"/>
              <a:t>Only thing that should be after it is a “verification” comment</a:t>
            </a:r>
            <a:endParaRPr lang="en-GB" sz="1867" dirty="0"/>
          </a:p>
          <a:p>
            <a:r>
              <a:rPr lang="en-GB" sz="1867" dirty="0"/>
              <a:t>TL;DR is useful for;</a:t>
            </a:r>
          </a:p>
          <a:p>
            <a:pPr lvl="1"/>
            <a:r>
              <a:rPr lang="en-GB" sz="1600" dirty="0"/>
              <a:t>Communicating quickly and effectively with low-engagement audiences</a:t>
            </a:r>
          </a:p>
          <a:p>
            <a:pPr lvl="1"/>
            <a:r>
              <a:rPr lang="en-GB" sz="1600" dirty="0"/>
              <a:t>Writing </a:t>
            </a:r>
            <a:r>
              <a:rPr lang="en-US" sz="1600" dirty="0"/>
              <a:t>Engineering Software Version Description documents (ESVDs)</a:t>
            </a:r>
            <a:endParaRPr lang="en-GB" sz="1600" dirty="0"/>
          </a:p>
          <a:p>
            <a:pPr lvl="1"/>
            <a:r>
              <a:rPr lang="en-GB" sz="1600" dirty="0"/>
              <a:t>Technical archaeology</a:t>
            </a:r>
          </a:p>
          <a:p>
            <a:pPr lvl="1"/>
            <a:r>
              <a:rPr lang="en-GB" sz="1600" dirty="0"/>
              <a:t>An engineer revisiting the ticket in the future</a:t>
            </a:r>
          </a:p>
          <a:p>
            <a:pPr lvl="2"/>
            <a:r>
              <a:rPr lang="en-GB" sz="1467" dirty="0"/>
              <a:t>The engineer could be you - Make life easier for your future self!</a:t>
            </a:r>
          </a:p>
          <a:p>
            <a:r>
              <a:rPr lang="en-GB" sz="1867" dirty="0"/>
              <a:t>Value for every audience</a:t>
            </a:r>
          </a:p>
          <a:p>
            <a:pPr lvl="1"/>
            <a:r>
              <a:rPr lang="en-GB" sz="1600" dirty="0"/>
              <a:t>Technical Product Owner (TPO) // Managing Product Owner (MPO)</a:t>
            </a:r>
          </a:p>
          <a:p>
            <a:pPr lvl="1"/>
            <a:r>
              <a:rPr lang="en-GB" sz="1600" dirty="0"/>
              <a:t>Technical Authority (TA) // Project Manager (PM)</a:t>
            </a:r>
          </a:p>
          <a:p>
            <a:pPr lvl="1"/>
            <a:r>
              <a:rPr lang="en-GB" sz="1600" dirty="0"/>
              <a:t>Hardware Engineer // Software Engineer // Downstream Tester</a:t>
            </a:r>
            <a:endParaRPr lang="en-GB" sz="1867" dirty="0"/>
          </a:p>
          <a:p>
            <a:r>
              <a:rPr lang="en-GB" sz="1867" dirty="0"/>
              <a:t>Primary ticket contributor or project lead writes the TL;DR</a:t>
            </a:r>
          </a:p>
          <a:p>
            <a:pPr lvl="1"/>
            <a:r>
              <a:rPr lang="en-GB" sz="1600" dirty="0"/>
              <a:t>(exactly when/how in the workflow this is done is covered later in the deck)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0190C-129B-4C21-B2DD-71B93297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3063C31-5A2B-4A4E-B0C9-CDD321B3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CCCC24-886F-044D-8CEC-2C2909D57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735" y="2051684"/>
            <a:ext cx="3122500" cy="409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37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742554-A743-4126-BA94-1AC1AC8E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 of a Solid TL;DR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85C0B-F8A6-48EF-A458-E643BE9F4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67" dirty="0"/>
              <a:t>TL;DR should consist of an appropriate subset of;</a:t>
            </a:r>
          </a:p>
          <a:p>
            <a:pPr lvl="1"/>
            <a:r>
              <a:rPr lang="en-US" sz="1600" dirty="0"/>
              <a:t>“TL;DR: ”</a:t>
            </a:r>
          </a:p>
          <a:p>
            <a:pPr lvl="1"/>
            <a:r>
              <a:rPr lang="en-US" sz="1600" dirty="0"/>
              <a:t>A recap of the original issue observed</a:t>
            </a:r>
            <a:endParaRPr lang="en-GB" sz="1600" dirty="0"/>
          </a:p>
          <a:p>
            <a:pPr lvl="1"/>
            <a:r>
              <a:rPr lang="en-US" sz="1600" dirty="0"/>
              <a:t>Any findings that altered the trajectory of the work done on the ticket</a:t>
            </a:r>
            <a:endParaRPr lang="en-GB" sz="1600" dirty="0"/>
          </a:p>
          <a:p>
            <a:pPr lvl="1"/>
            <a:r>
              <a:rPr lang="en-US" sz="1600" dirty="0"/>
              <a:t>Notes on key decisions made and reasoning</a:t>
            </a:r>
            <a:endParaRPr lang="en-GB" sz="1600" dirty="0"/>
          </a:p>
          <a:p>
            <a:pPr lvl="1"/>
            <a:r>
              <a:rPr lang="en-US" sz="1600" dirty="0"/>
              <a:t>Summary of the changes made to code or documents</a:t>
            </a:r>
          </a:p>
          <a:p>
            <a:pPr lvl="1"/>
            <a:r>
              <a:rPr lang="en-US" sz="1600" dirty="0"/>
              <a:t>Explicit statement that no code/doc/hardware changes were made, if applicable</a:t>
            </a:r>
            <a:endParaRPr lang="en-GB" sz="1600" dirty="0"/>
          </a:p>
          <a:p>
            <a:pPr lvl="1"/>
            <a:r>
              <a:rPr lang="en-US" sz="1600" dirty="0"/>
              <a:t>Summary of any new behavior/features/changes</a:t>
            </a:r>
            <a:endParaRPr lang="en-GB" sz="1600" dirty="0"/>
          </a:p>
          <a:p>
            <a:pPr lvl="1"/>
            <a:r>
              <a:rPr lang="en-US" sz="1600" dirty="0"/>
              <a:t>References to any splinter tickets created as a result, and reasoning</a:t>
            </a:r>
          </a:p>
          <a:p>
            <a:pPr lvl="1"/>
            <a:r>
              <a:rPr lang="en-US" sz="1600" dirty="0"/>
              <a:t>In the case of a rejection, the reason the ticket was rejected</a:t>
            </a:r>
          </a:p>
          <a:p>
            <a:pPr lvl="1"/>
            <a:r>
              <a:rPr lang="en-US" sz="1600" dirty="0"/>
              <a:t>For product-code-affecting tickets, if the title of the ticket is not self-explanatory then consider adding a one-liner title to be included in the PSRN</a:t>
            </a:r>
          </a:p>
          <a:p>
            <a:pPr lvl="2"/>
            <a:r>
              <a:rPr lang="en-US" sz="1467" dirty="0"/>
              <a:t>e.g. “PSRN: Improved customer experience of signal bar reporting”</a:t>
            </a:r>
            <a:endParaRPr lang="en-US" sz="1467" dirty="0">
              <a:solidFill>
                <a:srgbClr val="FF0000"/>
              </a:solidFill>
            </a:endParaRPr>
          </a:p>
          <a:p>
            <a:r>
              <a:rPr lang="en-US" sz="1867" dirty="0"/>
              <a:t>TL;DR is added when ticket transitions to either;</a:t>
            </a:r>
          </a:p>
          <a:p>
            <a:pPr lvl="1"/>
            <a:r>
              <a:rPr lang="en-US" sz="1600" dirty="0"/>
              <a:t>“Normal Path” =&gt; Status: READY (Resolution: Unresolved)</a:t>
            </a:r>
          </a:p>
          <a:p>
            <a:pPr lvl="1"/>
            <a:r>
              <a:rPr lang="en-US" sz="1600" dirty="0"/>
              <a:t>“</a:t>
            </a:r>
            <a:r>
              <a:rPr lang="en-US" sz="1600"/>
              <a:t>Reject Path” =&gt; Status</a:t>
            </a:r>
            <a:r>
              <a:rPr lang="en-US" sz="1600" dirty="0"/>
              <a:t>: COMPLETE (Resolution: Rejected)</a:t>
            </a:r>
          </a:p>
          <a:p>
            <a:pPr lvl="1"/>
            <a:r>
              <a:rPr lang="en-US" sz="1600" dirty="0"/>
              <a:t>(more about states and transitions in the Ticket Workflow section of this training)</a:t>
            </a:r>
            <a:endParaRPr lang="en-GB" sz="1867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0190C-129B-4C21-B2DD-71B93297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6" descr="A picture containing toy&#10;&#10;Description automatically generated">
            <a:extLst>
              <a:ext uri="{FF2B5EF4-FFF2-40B4-BE49-F238E27FC236}">
                <a16:creationId xmlns:a16="http://schemas.microsoft.com/office/drawing/2014/main" id="{F81E45CE-5F90-4111-999E-92613ECC4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353" y="1126592"/>
            <a:ext cx="2635100" cy="121620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D5DC719E-9EFC-4C42-83FD-7E7189824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1427761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0DAB6329-FDEB-4776-9E12-CBFB2BC42E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600" dirty="0"/>
              <a:t>Ticket created in TRIAGE state</a:t>
            </a:r>
          </a:p>
          <a:p>
            <a:r>
              <a:rPr lang="en-US" sz="1600" dirty="0"/>
              <a:t>Transitioned to GROOMED BACKLOG state once ticket has been triaged/prioritized in Backlog Grooming meeting</a:t>
            </a:r>
          </a:p>
          <a:p>
            <a:r>
              <a:rPr lang="en-US" sz="1600" dirty="0"/>
              <a:t>When someone becomes available to work a ticket they will “grab from the top of the backlog”, assign the ticket to themselves, and set to IN PROGRESS</a:t>
            </a:r>
          </a:p>
          <a:p>
            <a:r>
              <a:rPr lang="en-US" sz="1600" dirty="0"/>
              <a:t>IN PROGRESS, BLOCKED and REVIEW are the main activity states in the workflow</a:t>
            </a:r>
          </a:p>
          <a:p>
            <a:pPr lvl="1"/>
            <a:r>
              <a:rPr lang="en-US" sz="1333" dirty="0"/>
              <a:t>Ticket may transition between states more than once</a:t>
            </a:r>
          </a:p>
          <a:p>
            <a:pPr lvl="1"/>
            <a:r>
              <a:rPr lang="en-US" sz="1333" dirty="0"/>
              <a:t>IN PROGRESS ⇨ REVIEW ⇨ IN PROGRESS</a:t>
            </a:r>
          </a:p>
          <a:p>
            <a:pPr lvl="1"/>
            <a:r>
              <a:rPr lang="en-US" sz="1333" dirty="0"/>
              <a:t>IN PROGRESS ⇨ BLOCKED ⇨ IN PROGRESS</a:t>
            </a:r>
          </a:p>
          <a:p>
            <a:pPr lvl="1"/>
            <a:r>
              <a:rPr lang="en-US" sz="1333" dirty="0"/>
              <a:t>Tool prevents IN PROGRESS ⇨ BLOCKED ⇨ REVIEW</a:t>
            </a:r>
          </a:p>
          <a:p>
            <a:r>
              <a:rPr lang="en-US" sz="1600" dirty="0"/>
              <a:t>BLOCKED state is used for work that is blocked by entity outside of the nominal direct-reporting team</a:t>
            </a:r>
          </a:p>
          <a:p>
            <a:pPr lvl="1"/>
            <a:r>
              <a:rPr lang="en-US" sz="1333" dirty="0"/>
              <a:t>e.g. waiting on information from 3</a:t>
            </a:r>
            <a:r>
              <a:rPr lang="en-US" sz="1333" baseline="30000" dirty="0"/>
              <a:t>rd</a:t>
            </a:r>
            <a:r>
              <a:rPr lang="en-US" sz="1333" dirty="0"/>
              <a:t> party</a:t>
            </a:r>
          </a:p>
          <a:p>
            <a:r>
              <a:rPr lang="en-US" sz="1600" dirty="0"/>
              <a:t>REVIEW state where independent peer review occurs</a:t>
            </a:r>
          </a:p>
          <a:p>
            <a:pPr lvl="1"/>
            <a:r>
              <a:rPr lang="en-US" sz="1333" dirty="0"/>
              <a:t>e.g. Not the “change author”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8105AA68-C4B8-4E2F-8BC5-0721AEE7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Ticket Workflow (1/4)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ACD704-580E-44BB-BB3E-9D896893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 anchorCtr="0">
            <a:normAutofit/>
          </a:bodyPr>
          <a:lstStyle/>
          <a:p>
            <a:pPr>
              <a:spcAft>
                <a:spcPts val="800"/>
              </a:spcAft>
            </a:pPr>
            <a:fld id="{87F3615E-C475-D747-A9E3-81F4D99D7E3D}" type="slidenum">
              <a:rPr lang="en-US"/>
              <a:pPr>
                <a:spcAft>
                  <a:spcPts val="800"/>
                </a:spcAft>
              </a:pPr>
              <a:t>21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798E73-3FDC-499B-8879-11DC6849C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435" y="1188319"/>
            <a:ext cx="4140885" cy="4522012"/>
          </a:xfrm>
          <a:prstGeom prst="rect">
            <a:avLst/>
          </a:prstGeom>
        </p:spPr>
      </p:pic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7761CAD6-E96D-4B4D-ACBB-F066C072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4072862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0DAB6329-FDEB-4776-9E12-CBFB2BC42E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600" dirty="0"/>
              <a:t>Once independent review is completed reviewer;</a:t>
            </a:r>
          </a:p>
          <a:p>
            <a:pPr lvl="1"/>
            <a:r>
              <a:rPr lang="en-US" sz="1333" dirty="0"/>
              <a:t>Adds comments to effect of outcome of review (positive or negative)</a:t>
            </a:r>
          </a:p>
          <a:p>
            <a:pPr lvl="1"/>
            <a:r>
              <a:rPr lang="en-US" sz="1333" dirty="0"/>
              <a:t>If review positive AND software-related then the reviewer also merges changes to trunk</a:t>
            </a:r>
          </a:p>
          <a:p>
            <a:pPr lvl="1"/>
            <a:r>
              <a:rPr lang="en-US" sz="1333" dirty="0"/>
              <a:t>Assigns back to major contributor</a:t>
            </a:r>
          </a:p>
          <a:p>
            <a:r>
              <a:rPr lang="en-US" sz="1600" dirty="0"/>
              <a:t>REVIEW to READY transition is made by the major contributor of the ticket</a:t>
            </a:r>
          </a:p>
          <a:p>
            <a:pPr lvl="1"/>
            <a:r>
              <a:rPr lang="en-US" sz="1333" dirty="0"/>
              <a:t>Importantly, they also add the TL;DR as a part of this activity</a:t>
            </a:r>
          </a:p>
          <a:p>
            <a:pPr lvl="1"/>
            <a:r>
              <a:rPr lang="en-US" sz="1333" dirty="0"/>
              <a:t>Ticket is then “unassigned” after it is covered in a standup/status meeting (more on this in a few slides)</a:t>
            </a:r>
          </a:p>
          <a:p>
            <a:endParaRPr lang="en-US" sz="1600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8105AA68-C4B8-4E2F-8BC5-0721AEE7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Ticket Workflow (2/4)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ACD704-580E-44BB-BB3E-9D896893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 anchorCtr="0">
            <a:normAutofit/>
          </a:bodyPr>
          <a:lstStyle/>
          <a:p>
            <a:pPr>
              <a:spcAft>
                <a:spcPts val="800"/>
              </a:spcAft>
            </a:pPr>
            <a:fld id="{87F3615E-C475-D747-A9E3-81F4D99D7E3D}" type="slidenum">
              <a:rPr lang="en-US" smtClean="0"/>
              <a:pPr>
                <a:spcAft>
                  <a:spcPts val="800"/>
                </a:spcAft>
              </a:pPr>
              <a:t>22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BC8E6F-B11B-4041-9A18-B16DA3BB4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435" y="1188319"/>
            <a:ext cx="4140885" cy="4522012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C23E41B9-3B4F-6947-B05E-548A640A8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2326170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0DAB6329-FDEB-4776-9E12-CBFB2BC42E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600" dirty="0"/>
              <a:t>READY to COMPLETE transition depends on nature of work completed</a:t>
            </a:r>
          </a:p>
          <a:p>
            <a:pPr lvl="1"/>
            <a:r>
              <a:rPr lang="en-US" sz="1400" dirty="0"/>
              <a:t>Work that affects software/hardware/documentation</a:t>
            </a:r>
          </a:p>
          <a:p>
            <a:pPr lvl="2"/>
            <a:r>
              <a:rPr lang="en-US" sz="1200" dirty="0"/>
              <a:t>Ticket hangs in READY state until product build is produced and ESVD / change note / etc is written</a:t>
            </a:r>
          </a:p>
          <a:p>
            <a:pPr lvl="1"/>
            <a:r>
              <a:rPr lang="en-US" sz="1400" dirty="0"/>
              <a:t>Work that does not affect product</a:t>
            </a:r>
          </a:p>
          <a:p>
            <a:pPr lvl="2"/>
            <a:r>
              <a:rPr lang="en-US" sz="1200" dirty="0"/>
              <a:t>e.g. an “Investigate ...” ticket</a:t>
            </a:r>
          </a:p>
          <a:p>
            <a:pPr lvl="2"/>
            <a:r>
              <a:rPr lang="en-US" sz="1200" dirty="0"/>
              <a:t>Transitions immediately to COMPLETE</a:t>
            </a:r>
          </a:p>
          <a:p>
            <a:r>
              <a:rPr lang="en-US" sz="1600" dirty="0"/>
              <a:t>For consistency READY to COMPLETE transition carried out by Team Lead no matter if it is artifact (software/hardware/documentation) affecting or not</a:t>
            </a:r>
          </a:p>
          <a:p>
            <a:pPr lvl="1"/>
            <a:r>
              <a:rPr lang="en-US" sz="1400" dirty="0"/>
              <a:t>Team Lead can apply appropriate “fix version” at this stage and deal with transition to COMPLETE as appropriate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8105AA68-C4B8-4E2F-8BC5-0721AEE7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Ticket Workflow (3/4)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ACD704-580E-44BB-BB3E-9D896893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 anchorCtr="0">
            <a:normAutofit/>
          </a:bodyPr>
          <a:lstStyle/>
          <a:p>
            <a:pPr>
              <a:spcAft>
                <a:spcPts val="800"/>
              </a:spcAft>
            </a:pPr>
            <a:fld id="{87F3615E-C475-D747-A9E3-81F4D99D7E3D}" type="slidenum">
              <a:rPr lang="en-US" smtClean="0"/>
              <a:pPr>
                <a:spcAft>
                  <a:spcPts val="800"/>
                </a:spcAft>
              </a:pPr>
              <a:t>23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7FC9-82E4-45CB-ADC9-946C723A6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435" y="1188319"/>
            <a:ext cx="4140885" cy="4522012"/>
          </a:xfrm>
          <a:prstGeom prst="rect">
            <a:avLst/>
          </a:prstGeom>
        </p:spPr>
      </p:pic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C6511063-F3AF-A34E-8751-919DCD0C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517853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0DAB6329-FDEB-4776-9E12-CBFB2BC42E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600" dirty="0"/>
              <a:t>Verified transition used in downstream domains (outside of product engineering) to fully close off the ticket</a:t>
            </a:r>
          </a:p>
          <a:p>
            <a:pPr lvl="1"/>
            <a:r>
              <a:rPr lang="en-US" sz="1333" dirty="0"/>
              <a:t>Status: COMPLETE [Resolution: DONE] </a:t>
            </a:r>
            <a:r>
              <a:rPr lang="en-US" sz="1400" dirty="0"/>
              <a:t>⇨        </a:t>
            </a:r>
            <a:r>
              <a:rPr lang="en-US" sz="1333" dirty="0"/>
              <a:t>         Status: COMPLETE [Resolution: VERIFIED]</a:t>
            </a:r>
          </a:p>
          <a:p>
            <a:r>
              <a:rPr lang="en-US" sz="1600" dirty="0"/>
              <a:t>There are 2 reject paths</a:t>
            </a:r>
          </a:p>
          <a:p>
            <a:pPr lvl="1"/>
            <a:r>
              <a:rPr lang="en-US" sz="1333" dirty="0"/>
              <a:t>IN PROGRESS </a:t>
            </a:r>
            <a:r>
              <a:rPr lang="en-US" sz="1200" dirty="0"/>
              <a:t>⇨ </a:t>
            </a:r>
            <a:r>
              <a:rPr lang="en-US" sz="1333" dirty="0"/>
              <a:t>COMPLETE [Resolution: REJECTED]</a:t>
            </a:r>
          </a:p>
          <a:p>
            <a:pPr lvl="1"/>
            <a:r>
              <a:rPr lang="en-US" sz="1333" dirty="0"/>
              <a:t>REVIEW </a:t>
            </a:r>
            <a:r>
              <a:rPr lang="en-US" sz="1200" dirty="0"/>
              <a:t>⇨</a:t>
            </a:r>
            <a:r>
              <a:rPr lang="en-US" sz="1333" dirty="0"/>
              <a:t>           COMPLETE [Resolution: REJECTED]</a:t>
            </a:r>
          </a:p>
          <a:p>
            <a:r>
              <a:rPr lang="en-US" sz="1600" dirty="0"/>
              <a:t>Workflow enforces requirement that a comment be added for reject transitions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8105AA68-C4B8-4E2F-8BC5-0721AEE7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Ticket Workflow (4/4)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ACD704-580E-44BB-BB3E-9D896893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t" anchorCtr="0">
            <a:normAutofit/>
          </a:bodyPr>
          <a:lstStyle/>
          <a:p>
            <a:pPr>
              <a:spcAft>
                <a:spcPts val="800"/>
              </a:spcAft>
            </a:pPr>
            <a:fld id="{87F3615E-C475-D747-A9E3-81F4D99D7E3D}" type="slidenum">
              <a:rPr lang="en-US" smtClean="0"/>
              <a:pPr>
                <a:spcAft>
                  <a:spcPts val="800"/>
                </a:spcAft>
              </a:pPr>
              <a:t>24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F0D3F6-6375-4D78-85CA-E9C803224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435" y="1188319"/>
            <a:ext cx="4140885" cy="4522012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45833681-1FE6-E248-BBBC-80083DA62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481030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742554-A743-4126-BA94-1AC1AC8E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Closing Tickets // Transitioning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85C0B-F8A6-48EF-A458-E643BE9F4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67" dirty="0"/>
              <a:t>Transitioning a ticket to READY or REJECT</a:t>
            </a:r>
          </a:p>
          <a:p>
            <a:pPr lvl="1"/>
            <a:r>
              <a:rPr lang="en-GB" sz="1600" dirty="0"/>
              <a:t>Leave assigned to yourself until you have discussed with project lead 1:1 or with the team at a stand-up</a:t>
            </a:r>
          </a:p>
          <a:p>
            <a:pPr lvl="1"/>
            <a:r>
              <a:rPr lang="en-GB" sz="1600" dirty="0"/>
              <a:t>After discussing the ticket, “Unassign” the ticket from yourself so it does not muddy up the Kanban board</a:t>
            </a:r>
          </a:p>
          <a:p>
            <a:pPr lvl="2"/>
            <a:r>
              <a:rPr lang="en-GB" sz="1400" dirty="0"/>
              <a:t>Note: Previous versions of this process specified that tickets related to code, hardware, or doc changes should be assigned to the product lead after being discussed in a </a:t>
            </a:r>
            <a:r>
              <a:rPr lang="en-GB" sz="1400" dirty="0" err="1"/>
              <a:t>standup</a:t>
            </a:r>
            <a:r>
              <a:rPr lang="en-GB" sz="1400" dirty="0"/>
              <a:t>.  We’ve changed from that as it was causing the lead’s swim-lane to get muddied up with a mix of things they did vs things the broader team did.</a:t>
            </a:r>
          </a:p>
          <a:p>
            <a:pPr lvl="1"/>
            <a:r>
              <a:rPr lang="en-GB" sz="1600" dirty="0"/>
              <a:t>At the end of the sprint the project lead will manage the creation of the release artifact(s) and clear the items from the READY and COMPLETE columns on the board </a:t>
            </a:r>
          </a:p>
          <a:p>
            <a:r>
              <a:rPr lang="en-GB" sz="1867" dirty="0"/>
              <a:t>If you ever get lost / need process advice</a:t>
            </a:r>
          </a:p>
          <a:p>
            <a:pPr lvl="1"/>
            <a:r>
              <a:rPr lang="en-GB" sz="1600" dirty="0"/>
              <a:t>Assign the ticket to the project lead and they will sort it out for you (and/or coach you through it)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0190C-129B-4C21-B2DD-71B93297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734F7995-65D4-064E-A2C8-42EFC2B63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6" name="Picture 5" descr="A close-up of some food&#10;&#10;Description automatically generated with low confidence">
            <a:extLst>
              <a:ext uri="{FF2B5EF4-FFF2-40B4-BE49-F238E27FC236}">
                <a16:creationId xmlns:a16="http://schemas.microsoft.com/office/drawing/2014/main" id="{D266D7BB-D192-46F6-B414-A051B5156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794" y="3913795"/>
            <a:ext cx="3385321" cy="237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325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E42645-7A29-4860-B3D3-4EE1C30A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Kanban Board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F0FE2D-959E-4C22-8749-04355B75F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846" y="1169088"/>
            <a:ext cx="5184817" cy="5044286"/>
          </a:xfrm>
        </p:spPr>
        <p:txBody>
          <a:bodyPr/>
          <a:lstStyle/>
          <a:p>
            <a:r>
              <a:rPr lang="en-GB" sz="1600" dirty="0"/>
              <a:t>Jira Kanban board is used at minimum in all stand-ups and/or status meetings</a:t>
            </a:r>
          </a:p>
          <a:p>
            <a:pPr lvl="1"/>
            <a:r>
              <a:rPr lang="en-GB" sz="1333" dirty="0"/>
              <a:t>Also immensely valuable 20k foot view for //anyone// at //anytime//</a:t>
            </a:r>
            <a:endParaRPr lang="en-GB" sz="1600" dirty="0"/>
          </a:p>
          <a:p>
            <a:r>
              <a:rPr lang="en-GB" sz="1600" dirty="0"/>
              <a:t>Team members should focus attention from right to left</a:t>
            </a:r>
          </a:p>
          <a:p>
            <a:pPr lvl="1"/>
            <a:r>
              <a:rPr lang="en-GB" sz="1333" dirty="0"/>
              <a:t>Value is released from the right-hand-side of the board</a:t>
            </a:r>
          </a:p>
          <a:p>
            <a:pPr lvl="1"/>
            <a:r>
              <a:rPr lang="en-GB" sz="1333" dirty="0"/>
              <a:t>Review tickets before working tickets</a:t>
            </a:r>
          </a:p>
          <a:p>
            <a:r>
              <a:rPr lang="en-GB" sz="1600" dirty="0"/>
              <a:t>Tickets may be cherry-picked in from other projects if necessary using Kanban filter (e.g. using labels)</a:t>
            </a:r>
          </a:p>
          <a:p>
            <a:r>
              <a:rPr lang="en-GB" sz="1600" dirty="0"/>
              <a:t>Kanban board ticket colors based on elapsed time since last update, e.g.:</a:t>
            </a:r>
          </a:p>
          <a:p>
            <a:pPr lvl="1"/>
            <a:r>
              <a:rPr lang="en-GB" sz="1333" dirty="0"/>
              <a:t>    Green &lt;= 2 days</a:t>
            </a:r>
          </a:p>
          <a:p>
            <a:pPr lvl="1"/>
            <a:r>
              <a:rPr lang="en-GB" sz="1333" dirty="0"/>
              <a:t>    Yellow &lt;= 5 days</a:t>
            </a:r>
          </a:p>
          <a:p>
            <a:pPr lvl="1"/>
            <a:r>
              <a:rPr lang="en-GB" sz="1333" dirty="0"/>
              <a:t>    Red &lt;= 8 days</a:t>
            </a:r>
          </a:p>
          <a:p>
            <a:pPr lvl="1"/>
            <a:r>
              <a:rPr lang="en-GB" sz="1333" dirty="0"/>
              <a:t>    Purple &lt;= 14 days</a:t>
            </a:r>
          </a:p>
          <a:p>
            <a:pPr lvl="1"/>
            <a:r>
              <a:rPr lang="en-GB" sz="1333" dirty="0"/>
              <a:t>    Pink &lt;= 28 days</a:t>
            </a:r>
          </a:p>
          <a:p>
            <a:pPr lvl="1"/>
            <a:r>
              <a:rPr lang="en-GB" sz="1333" dirty="0"/>
              <a:t>    White &gt; 28 days</a:t>
            </a:r>
          </a:p>
          <a:p>
            <a:pPr marL="311842" lvl="1" indent="0">
              <a:buNone/>
            </a:pPr>
            <a:r>
              <a:rPr lang="en-US" sz="1067" dirty="0"/>
              <a:t>These are intended as a helpful reminder about when it might be beneficial to turn your attention to a ticket - if you are 100% on a project it is a community norm to keep tickets green when IN PROGRESS or REVIEW.  Anything beyond red indicates in general things are dragging / value is not being created at an acceptable pace.</a:t>
            </a:r>
            <a:endParaRPr lang="en-GB" sz="1333" dirty="0"/>
          </a:p>
          <a:p>
            <a:endParaRPr lang="en-GB" sz="1600" dirty="0"/>
          </a:p>
          <a:p>
            <a:pPr lvl="1"/>
            <a:endParaRPr lang="en-GB" sz="1333" dirty="0"/>
          </a:p>
          <a:p>
            <a:endParaRPr lang="en-GB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A92CD-38E7-45D9-A32F-FE37B010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1B35039-5E2C-4141-8BEB-C1EE64D7D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01746"/>
            <a:ext cx="5613069" cy="2919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68E887-07A3-4DD1-AE5A-B38EE2759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602" y="4090875"/>
            <a:ext cx="215907" cy="21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C4C36A-DB10-4A4F-88A1-4FD61941A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602" y="4337033"/>
            <a:ext cx="215907" cy="21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AE43EF-24F7-46C4-BC4D-C2535EEF0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9817" y="4576638"/>
            <a:ext cx="215907" cy="216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3AF17C-FA19-417C-BEB9-565ABDAA78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601" y="4832221"/>
            <a:ext cx="215907" cy="216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9AEF2D-E82A-4332-9B38-E600D418D0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602" y="5080579"/>
            <a:ext cx="215907" cy="216000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A5C6C244-1E8B-451B-A781-2206116DAC08}"/>
              </a:ext>
            </a:extLst>
          </p:cNvPr>
          <p:cNvSpPr txBox="1">
            <a:spLocks/>
          </p:cNvSpPr>
          <p:nvPr/>
        </p:nvSpPr>
        <p:spPr>
          <a:xfrm>
            <a:off x="6400800" y="4295048"/>
            <a:ext cx="5078706" cy="1855309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202500" marR="0" indent="-202500" algn="l" defTabSz="3429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9A225"/>
              </a:buClr>
              <a:buSzTx/>
              <a:buFont typeface="Arial"/>
              <a:buChar char="•"/>
              <a:tabLst/>
              <a:defRPr sz="180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1pPr>
            <a:lvl2pPr marL="448200" marR="0" indent="-214313" algn="l" defTabSz="3429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9A225"/>
              </a:buClr>
              <a:buSzTx/>
              <a:buFont typeface="Arial"/>
              <a:buChar char="•"/>
              <a:tabLst/>
              <a:defRPr sz="160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2pPr>
            <a:lvl3pPr marL="750600" marR="0" indent="-171450" algn="l" defTabSz="342900" rtl="0" eaLnBrk="1" fontAlgn="auto" latinLnBrk="0" hangingPunct="1">
              <a:lnSpc>
                <a:spcPct val="100000"/>
              </a:lnSpc>
              <a:spcBef>
                <a:spcPts val="263"/>
              </a:spcBef>
              <a:spcAft>
                <a:spcPts val="0"/>
              </a:spcAft>
              <a:buClr>
                <a:srgbClr val="F9A225"/>
              </a:buClr>
              <a:buSzTx/>
              <a:buFont typeface="Arial"/>
              <a:buChar char="•"/>
              <a:tabLst/>
              <a:defRPr sz="140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9A225"/>
              </a:buClr>
              <a:buSzTx/>
              <a:buFont typeface="Arial"/>
              <a:buChar char="–"/>
              <a:tabLst/>
              <a:defRPr sz="120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9A225"/>
              </a:buClr>
              <a:buSzTx/>
              <a:buFont typeface="Arial"/>
              <a:buChar char="»"/>
              <a:tabLst/>
              <a:defRPr sz="100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5pPr>
            <a:lvl6pPr marL="1414428" indent="-128585" algn="l" defTabSz="257168" rtl="0" eaLnBrk="1" latinLnBrk="0" hangingPunct="1">
              <a:spcBef>
                <a:spcPct val="20000"/>
              </a:spcBef>
              <a:buFont typeface="Arial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257168" rtl="0" eaLnBrk="1" latinLnBrk="0" hangingPunct="1">
              <a:spcBef>
                <a:spcPct val="20000"/>
              </a:spcBef>
              <a:buFont typeface="Arial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257168" rtl="0" eaLnBrk="1" latinLnBrk="0" hangingPunct="1">
              <a:spcBef>
                <a:spcPct val="20000"/>
              </a:spcBef>
              <a:buFont typeface="Arial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4" indent="-128585" algn="l" defTabSz="257168" rtl="0" eaLnBrk="1" latinLnBrk="0" hangingPunct="1">
              <a:spcBef>
                <a:spcPct val="20000"/>
              </a:spcBef>
              <a:buFont typeface="Arial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chemeClr val="bg1"/>
                </a:solidFill>
              </a:rPr>
              <a:t>Tickets in TRIAGE state do not show on the board</a:t>
            </a:r>
          </a:p>
          <a:p>
            <a:pPr lvl="1"/>
            <a:r>
              <a:rPr lang="en-GB" sz="1333" dirty="0">
                <a:solidFill>
                  <a:schemeClr val="bg1"/>
                </a:solidFill>
              </a:rPr>
              <a:t>Once in GROOMED BACKLOG these will become visible</a:t>
            </a:r>
          </a:p>
          <a:p>
            <a:r>
              <a:rPr lang="en-GB" sz="1600" dirty="0">
                <a:solidFill>
                  <a:schemeClr val="bg1"/>
                </a:solidFill>
              </a:rPr>
              <a:t>Once READY and COMPLETE tickets are discussed in stand-ups these get unassigned to keep board cleaner (no longer in upper </a:t>
            </a:r>
            <a:r>
              <a:rPr lang="en-GB" sz="1600" dirty="0" err="1">
                <a:solidFill>
                  <a:schemeClr val="bg1"/>
                </a:solidFill>
              </a:rPr>
              <a:t>swimlanes</a:t>
            </a:r>
            <a:r>
              <a:rPr lang="en-GB" sz="1600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n-GB" sz="1067" dirty="0">
                <a:solidFill>
                  <a:schemeClr val="bg1"/>
                </a:solidFill>
              </a:rPr>
              <a:t>Avoids repeat updates for tasks that are complete</a:t>
            </a:r>
          </a:p>
          <a:p>
            <a:pPr lvl="1"/>
            <a:r>
              <a:rPr lang="en-GB" sz="1067" dirty="0">
                <a:solidFill>
                  <a:schemeClr val="bg1"/>
                </a:solidFill>
              </a:rPr>
              <a:t>Features/fixes staged for next release settle in “READY Unassigned”</a:t>
            </a:r>
          </a:p>
          <a:p>
            <a:endParaRPr lang="en-GB" sz="1600" dirty="0"/>
          </a:p>
          <a:p>
            <a:pPr lvl="1"/>
            <a:endParaRPr lang="en-GB" sz="1333" dirty="0"/>
          </a:p>
          <a:p>
            <a:endParaRPr lang="en-GB" sz="1600" dirty="0"/>
          </a:p>
        </p:txBody>
      </p:sp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22092F65-778B-5945-A4A9-8E728F61C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457571-58C4-354D-B9D2-B164C9459D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9601" y="5323826"/>
            <a:ext cx="2159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99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CA508-2041-43E5-833F-467B35124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Journey to Enlightenment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A8795D-C7C4-4575-809B-845DFFF8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6490" y="1228726"/>
            <a:ext cx="5091956" cy="4984648"/>
          </a:xfrm>
        </p:spPr>
        <p:txBody>
          <a:bodyPr/>
          <a:lstStyle/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Raising Tickets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Ticket Summary Field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Ticket Description Field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Ticket “Definition of Done”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Comment Threads (3)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TL;DRs (2)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Ticket Workflow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(/) Kanban Board (1)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Backlogs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(?) Team Leads (1) [optional]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(?) Software Specific (3) [optional]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(!) Ticket Miscellany 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8CD044-537F-4AAF-9C3E-4E7EB80E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F8F2AC7-A944-DA4E-8603-5F094326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11" name="Picture 10" descr="A picture containing logo&#10;&#10;Description automatically generated">
            <a:extLst>
              <a:ext uri="{FF2B5EF4-FFF2-40B4-BE49-F238E27FC236}">
                <a16:creationId xmlns:a16="http://schemas.microsoft.com/office/drawing/2014/main" id="{71943154-5D18-584F-9BD5-89463C0A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26" y="1306934"/>
            <a:ext cx="4433670" cy="443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65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iagram&#10;&#10;Description automatically generated">
            <a:extLst>
              <a:ext uri="{FF2B5EF4-FFF2-40B4-BE49-F238E27FC236}">
                <a16:creationId xmlns:a16="http://schemas.microsoft.com/office/drawing/2014/main" id="{9A101891-364D-4271-99F3-8A317ED1E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015" y="983915"/>
            <a:ext cx="2349335" cy="206741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1742554-A743-4126-BA94-1AC1AC8E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Priority Focus // The Backlog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85C0B-F8A6-48EF-A458-E643BE9F4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845" y="1169088"/>
            <a:ext cx="8717415" cy="5044286"/>
          </a:xfrm>
        </p:spPr>
        <p:txBody>
          <a:bodyPr/>
          <a:lstStyle/>
          <a:p>
            <a:r>
              <a:rPr lang="en-GB" sz="1867" dirty="0"/>
              <a:t>The core of this task management strategy is pursuit of creating “continuous flow”</a:t>
            </a:r>
          </a:p>
          <a:p>
            <a:r>
              <a:rPr lang="en-GB" sz="1867" dirty="0"/>
              <a:t>When a team member finishes something they need to know what should be worked on next – e.g. a “prioritized backlog of work”</a:t>
            </a:r>
          </a:p>
          <a:p>
            <a:r>
              <a:rPr lang="en-GB" sz="1867" dirty="0"/>
              <a:t>A backlog of work that is been prioritized is called a Groomed Backlog</a:t>
            </a:r>
          </a:p>
          <a:p>
            <a:r>
              <a:rPr lang="en-GB" sz="1867" dirty="0"/>
              <a:t>A groomed backlog has the most important thing at the top, followed by the second most important, the third, …</a:t>
            </a:r>
          </a:p>
          <a:p>
            <a:r>
              <a:rPr lang="en-GB" sz="1867" dirty="0"/>
              <a:t>Notably, the concept of High/Med/Low priority tags is philosophically incongruent with a groomed backlog</a:t>
            </a:r>
          </a:p>
          <a:p>
            <a:pPr lvl="1"/>
            <a:r>
              <a:rPr lang="en-GB" sz="1600" dirty="0"/>
              <a:t>These low-fidelity labels do not provide enough information to the team about what should be worked on next</a:t>
            </a:r>
          </a:p>
          <a:p>
            <a:pPr lvl="1"/>
            <a:r>
              <a:rPr lang="en-GB" sz="1600" dirty="0"/>
              <a:t>If present on a ticket in a “continuous flow” project they can create confusion – e.g. why is this HIGH priority ticket below these 5 other LOW priority tasks?</a:t>
            </a:r>
          </a:p>
          <a:p>
            <a:pPr lvl="1"/>
            <a:r>
              <a:rPr lang="en-GB" sz="1600" dirty="0"/>
              <a:t>In short, they are duplication of information and violate the DRY (Don’t Repeat Yourself) principle and create conflict</a:t>
            </a:r>
          </a:p>
          <a:p>
            <a:pPr lvl="1"/>
            <a:r>
              <a:rPr lang="en-GB" sz="1600" dirty="0"/>
              <a:t>In summary: Priority tags should not be used (and if a ticket is found to have one it is highly recommended that the team lead dutifully remove/reset them)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0190C-129B-4C21-B2DD-71B93297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F7E540E0-0367-4699-896E-DA04CCC55C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77"/>
          <a:stretch/>
        </p:blipFill>
        <p:spPr>
          <a:xfrm>
            <a:off x="9619015" y="3896469"/>
            <a:ext cx="2349335" cy="1977616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3FCF63B3-8045-4347-9A70-CA771432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1644974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742554-A743-4126-BA94-1AC1AC8E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Grooming the Backlog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85C0B-F8A6-48EF-A458-E643BE9F4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846" y="1169088"/>
            <a:ext cx="8976296" cy="5044286"/>
          </a:xfrm>
        </p:spPr>
        <p:txBody>
          <a:bodyPr/>
          <a:lstStyle/>
          <a:p>
            <a:r>
              <a:rPr lang="en-GB" sz="1867" dirty="0"/>
              <a:t>Backlog Grooming sessions should be conducted //on a cadence// and with all key stakeholders involved</a:t>
            </a:r>
          </a:p>
          <a:p>
            <a:pPr lvl="1"/>
            <a:r>
              <a:rPr lang="en-GB" sz="1600" dirty="0"/>
              <a:t>Could be done every couple of weeks in a separate meeting</a:t>
            </a:r>
          </a:p>
          <a:p>
            <a:pPr lvl="1"/>
            <a:r>
              <a:rPr lang="en-GB" sz="1600" dirty="0"/>
              <a:t>Could be during every weekly stand-up IFF all stakeholders are always there //and// it does not disrupt the flow of the stand-up (generally not recommended)</a:t>
            </a:r>
          </a:p>
          <a:p>
            <a:pPr lvl="1"/>
            <a:r>
              <a:rPr lang="en-GB" sz="1600" dirty="0"/>
              <a:t>Could be done solo by project lead if they are the only key stakeholder</a:t>
            </a:r>
          </a:p>
          <a:p>
            <a:r>
              <a:rPr lang="en-GB" sz="1867" dirty="0"/>
              <a:t>A Backlog Grooming meeting agenda should be approximately;</a:t>
            </a:r>
          </a:p>
          <a:p>
            <a:pPr lvl="1"/>
            <a:r>
              <a:rPr lang="en-US" sz="1600" dirty="0"/>
              <a:t>Quick update on status of tickets no-longer-on-backlog (gets the context set appropriately)</a:t>
            </a:r>
          </a:p>
          <a:p>
            <a:pPr lvl="1"/>
            <a:r>
              <a:rPr lang="en-US" sz="1600" dirty="0"/>
              <a:t>Call for “unfiled tickets” so placeholders can be created and groomed</a:t>
            </a:r>
          </a:p>
          <a:p>
            <a:pPr lvl="1"/>
            <a:r>
              <a:rPr lang="en-US" sz="1600" dirty="0"/>
              <a:t>Discuss new tickets raised since last Backlog Grooming Session (e.g. "triage")</a:t>
            </a:r>
          </a:p>
          <a:p>
            <a:pPr lvl="1"/>
            <a:r>
              <a:rPr lang="en-US" sz="1600" dirty="0"/>
              <a:t>Groom in the new tickets / yet-unfiled-placeholders</a:t>
            </a:r>
          </a:p>
          <a:p>
            <a:pPr lvl="1"/>
            <a:r>
              <a:rPr lang="en-US" sz="1600" dirty="0"/>
              <a:t>Step back to see if any previously-groomed tickets need to be repositioned</a:t>
            </a:r>
            <a:endParaRPr lang="en-GB" sz="1600" dirty="0"/>
          </a:p>
          <a:p>
            <a:r>
              <a:rPr lang="en-GB" sz="1867" dirty="0"/>
              <a:t>There are some tried-and-true tricks for creating a groomed backlog out of “just a pile of stuff” that make the transition to a backlog-driven team a low-burden task</a:t>
            </a:r>
          </a:p>
          <a:p>
            <a:pPr lvl="1"/>
            <a:r>
              <a:rPr lang="en-GB" sz="1600" dirty="0"/>
              <a:t>See Garrett Chandler for a tutorial on how to do this if interested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0190C-129B-4C21-B2DD-71B93297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B0B95EE4-CBE2-4D46-8AD2-A91AD9132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4098" name="Picture 2" descr="Dantesmile Bamboo Comb - Ecco Verde Online Shop">
            <a:extLst>
              <a:ext uri="{FF2B5EF4-FFF2-40B4-BE49-F238E27FC236}">
                <a16:creationId xmlns:a16="http://schemas.microsoft.com/office/drawing/2014/main" id="{D893ABAC-845C-394F-8A8E-B2418E986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32" b="99048" l="6917" r="93500">
                        <a14:foregroundMark x1="10667" y1="73651" x2="10667" y2="73651"/>
                        <a14:foregroundMark x1="6917" y1="67302" x2="6917" y2="67302"/>
                        <a14:foregroundMark x1="13833" y1="92540" x2="13833" y2="92540"/>
                        <a14:foregroundMark x1="15750" y1="99365" x2="15750" y2="99365"/>
                        <a14:foregroundMark x1="80583" y1="6032" x2="80583" y2="6032"/>
                        <a14:foregroundMark x1="89000" y1="23016" x2="89000" y2="23016"/>
                        <a14:foregroundMark x1="93500" y1="42063" x2="93500" y2="420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744376" y="2549282"/>
            <a:ext cx="3933631" cy="206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553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742554-A743-4126-BA94-1AC1AC8E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Triage and Backlog Etiquette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85C0B-F8A6-48EF-A458-E643BE9F4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67" dirty="0"/>
              <a:t>Items in TRIAGE and GROOMED BACKLOG //generally// should not be assigned to anyone</a:t>
            </a:r>
          </a:p>
          <a:p>
            <a:pPr lvl="1"/>
            <a:r>
              <a:rPr lang="en-GB" sz="1600" dirty="0"/>
              <a:t>Intent / philosophy is that “these are the priorities” and should not be gated by availability of an individual</a:t>
            </a:r>
          </a:p>
          <a:p>
            <a:pPr lvl="1"/>
            <a:r>
              <a:rPr lang="en-GB" sz="1600" dirty="0"/>
              <a:t>Also, no work should be done related to a ticket that is not IN PROGRESS (comments are red flag of this)</a:t>
            </a:r>
          </a:p>
          <a:p>
            <a:pPr lvl="2"/>
            <a:r>
              <a:rPr lang="en-GB" sz="1400" dirty="0"/>
              <a:t>Basically only shoring-up / fleshing-out of the Definition of Done should happen in this state</a:t>
            </a:r>
          </a:p>
          <a:p>
            <a:r>
              <a:rPr lang="en-GB" sz="1867" dirty="0"/>
              <a:t>However, there are two real use-cases for assignment in backlog</a:t>
            </a:r>
          </a:p>
          <a:p>
            <a:pPr lvl="1"/>
            <a:r>
              <a:rPr lang="en-GB" sz="1600" dirty="0"/>
              <a:t>“Ticket needs input from an individual before it can be groomed and/or to flesh out the Description / Definition of Done”</a:t>
            </a:r>
          </a:p>
          <a:p>
            <a:pPr lvl="2"/>
            <a:r>
              <a:rPr lang="en-GB" sz="1400" dirty="0"/>
              <a:t>This is just about the only time comments on the ticket while in GROOMED BACKLOG are acceptable</a:t>
            </a:r>
          </a:p>
          <a:p>
            <a:pPr lvl="1"/>
            <a:r>
              <a:rPr lang="en-GB" sz="1600" dirty="0"/>
              <a:t>“There is really only one person who can do this task”</a:t>
            </a:r>
          </a:p>
          <a:p>
            <a:r>
              <a:rPr lang="en-GB" sz="1867" dirty="0"/>
              <a:t>Jira does good job of “have your cake and eat it too” for this</a:t>
            </a:r>
          </a:p>
          <a:p>
            <a:pPr lvl="1"/>
            <a:r>
              <a:rPr lang="en-GB" sz="1600" dirty="0"/>
              <a:t>In the Backlog view anyone can see the ticket priority relative to each other</a:t>
            </a:r>
          </a:p>
          <a:p>
            <a:pPr lvl="1"/>
            <a:r>
              <a:rPr lang="en-GB" sz="1600" dirty="0"/>
              <a:t>In the Kanban board (with swim lanes) anyone can see the “personal backlogs” in the Backlog column</a:t>
            </a:r>
          </a:p>
          <a:p>
            <a:r>
              <a:rPr lang="en-GB" sz="1867" dirty="0"/>
              <a:t>It is up to the project lead to guide the team in walking this tightrope</a:t>
            </a:r>
          </a:p>
          <a:p>
            <a:pPr lvl="1"/>
            <a:r>
              <a:rPr lang="en-GB" sz="1600" dirty="0"/>
              <a:t>At the end of the day teams are also a community – with communal expectations and norms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0190C-129B-4C21-B2DD-71B93297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F7F273C-D6B8-4E87-9A29-FC5977BB27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66" r="10320"/>
          <a:stretch/>
        </p:blipFill>
        <p:spPr>
          <a:xfrm>
            <a:off x="10533294" y="3155092"/>
            <a:ext cx="1276762" cy="1072277"/>
          </a:xfrm>
          <a:prstGeom prst="rect">
            <a:avLst/>
          </a:prstGeom>
        </p:spPr>
      </p:pic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B6305E8A-DC90-44E4-8B25-626AA9C453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016"/>
          <a:stretch/>
        </p:blipFill>
        <p:spPr>
          <a:xfrm>
            <a:off x="10533294" y="5152773"/>
            <a:ext cx="1276762" cy="1072277"/>
          </a:xfrm>
          <a:prstGeom prst="rect">
            <a:avLst/>
          </a:prstGeom>
        </p:spPr>
      </p:pic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106967C8-49FC-7147-BF79-229754E4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2936478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742554-A743-4126-BA94-1AC1AC8E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845" y="116118"/>
            <a:ext cx="11409155" cy="936851"/>
          </a:xfrm>
        </p:spPr>
        <p:txBody>
          <a:bodyPr>
            <a:normAutofit/>
          </a:bodyPr>
          <a:lstStyle/>
          <a:p>
            <a:r>
              <a:rPr lang="en-GB" dirty="0"/>
              <a:t>In Case of Fire Break Glass: Skipping the Backlog (1/2)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85C0B-F8A6-48EF-A458-E643BE9F4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845" y="1169088"/>
            <a:ext cx="8420975" cy="5044286"/>
          </a:xfrm>
        </p:spPr>
        <p:txBody>
          <a:bodyPr/>
          <a:lstStyle/>
          <a:p>
            <a:r>
              <a:rPr lang="en-GB" sz="1867" dirty="0"/>
              <a:t>Reasoning</a:t>
            </a:r>
          </a:p>
          <a:p>
            <a:pPr lvl="1"/>
            <a:r>
              <a:rPr lang="en-GB" sz="1600" dirty="0"/>
              <a:t>There are a very small handful of known/agreed instances (precisely 4) where action on new ticket (Triage state) is allowed without a backlog grooming session</a:t>
            </a:r>
          </a:p>
          <a:p>
            <a:pPr lvl="1"/>
            <a:r>
              <a:rPr lang="en-GB" sz="1600" dirty="0"/>
              <a:t>These can be slippery slopes and should be used with care</a:t>
            </a:r>
          </a:p>
          <a:p>
            <a:pPr lvl="1"/>
            <a:r>
              <a:rPr lang="en-GB" sz="1600" dirty="0"/>
              <a:t>If more than 5% of tickets are pulling this rip cord: re-evaluate your project/process</a:t>
            </a:r>
          </a:p>
          <a:p>
            <a:r>
              <a:rPr lang="en-GB" sz="1867" dirty="0"/>
              <a:t>Product Support Tickets ([PS])</a:t>
            </a:r>
          </a:p>
          <a:p>
            <a:pPr lvl="1"/>
            <a:r>
              <a:rPr lang="en-GB" sz="1600" dirty="0"/>
              <a:t>Requests from customers should be actioned attentively (only good customers😉) </a:t>
            </a:r>
          </a:p>
          <a:p>
            <a:pPr lvl="1"/>
            <a:r>
              <a:rPr lang="en-GB" sz="1600" dirty="0"/>
              <a:t>Product Owner granted the power (community norms – not tool restrictions) to prefix ticket Summary with “[PS]” (abbreviation of “Product Support”)</a:t>
            </a:r>
          </a:p>
          <a:p>
            <a:pPr lvl="1"/>
            <a:r>
              <a:rPr lang="en-GB" sz="1600" dirty="0"/>
              <a:t>The [PS] prefix indicates to Technical Lead et al that this ticket should automatically go to the top of the backlog and worked with priority</a:t>
            </a:r>
          </a:p>
          <a:p>
            <a:pPr lvl="1"/>
            <a:r>
              <a:rPr lang="en-GB" sz="1600" dirty="0"/>
              <a:t>Tickets annotated as [PS] inherently follow the “investigate” half of the investigate/action pattern</a:t>
            </a:r>
          </a:p>
          <a:p>
            <a:pPr lvl="2"/>
            <a:r>
              <a:rPr lang="en-GB" sz="1400" dirty="0"/>
              <a:t>If not written as such when they are created the Technical Lead should re-title/re-write (and scope the DOD) as an “investigation ticket”</a:t>
            </a:r>
          </a:p>
          <a:p>
            <a:pPr lvl="2"/>
            <a:r>
              <a:rPr lang="en-GB" sz="1400" dirty="0"/>
              <a:t>The last item in the DOD will naturally be “create a ticket to make a change if one is decided to be necessary”</a:t>
            </a:r>
          </a:p>
          <a:p>
            <a:pPr lvl="1"/>
            <a:r>
              <a:rPr lang="en-GB" sz="1600" dirty="0"/>
              <a:t>Note: “Customer” is intentionally ambiguous here – could be external customer or internal customer (GW Ops, SI&amp;T, etc)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0190C-129B-4C21-B2DD-71B93297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106967C8-49FC-7147-BF79-229754E4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479B38E1-F1EF-4FFC-A3E2-F6F600439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721" y="2524678"/>
            <a:ext cx="21844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81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742554-A743-4126-BA94-1AC1AC8E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846" y="116118"/>
            <a:ext cx="11409154" cy="936851"/>
          </a:xfrm>
        </p:spPr>
        <p:txBody>
          <a:bodyPr>
            <a:normAutofit/>
          </a:bodyPr>
          <a:lstStyle/>
          <a:p>
            <a:r>
              <a:rPr lang="en-GB" dirty="0"/>
              <a:t>In Case of Fire Break Glass: Skipping the Backlog (2/2)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85C0B-F8A6-48EF-A458-E643BE9F4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845" y="1169088"/>
            <a:ext cx="8646541" cy="5044286"/>
          </a:xfrm>
        </p:spPr>
        <p:txBody>
          <a:bodyPr/>
          <a:lstStyle/>
          <a:p>
            <a:r>
              <a:rPr lang="en-GB" sz="1867" dirty="0"/>
              <a:t>Striking While the Iron is Hot ([MERGE])</a:t>
            </a:r>
          </a:p>
          <a:p>
            <a:pPr lvl="1"/>
            <a:r>
              <a:rPr lang="en-GB" sz="1600" dirty="0"/>
              <a:t>On occasion a change made for one transceiver product is relevant to one or more other products – e.g. a change that can deliver immediate value to other products via a “merge” of that change to other codebases</a:t>
            </a:r>
          </a:p>
          <a:p>
            <a:pPr lvl="1"/>
            <a:r>
              <a:rPr lang="en-GB" sz="1600" dirty="0"/>
              <a:t>Project leads identify these and create [MERGE] tickets for each other</a:t>
            </a:r>
          </a:p>
          <a:p>
            <a:pPr lvl="1"/>
            <a:r>
              <a:rPr lang="en-GB" sz="1600" dirty="0"/>
              <a:t>If the work for the [MERGE] ticket is considered to be small t-shirt sized (typically the case) the ticket goes to the top of the relevant product backlogs without review</a:t>
            </a:r>
          </a:p>
          <a:p>
            <a:pPr lvl="1"/>
            <a:r>
              <a:rPr lang="en-GB" sz="1600" dirty="0"/>
              <a:t>Rationale is that when the merge is done close to when the original work was carried out loss of knowledge/context over time is minimized (and assists to keep us sane by not forcing us to remember a change was made to one product not another)</a:t>
            </a:r>
          </a:p>
          <a:p>
            <a:pPr lvl="1"/>
            <a:r>
              <a:rPr lang="en-GB" sz="1600" dirty="0"/>
              <a:t>[MERGE] tickets should remain a lower priority than [PS] tickets</a:t>
            </a:r>
          </a:p>
          <a:p>
            <a:r>
              <a:rPr lang="en-GB" sz="1867" dirty="0"/>
              <a:t>Priority Inheritance</a:t>
            </a:r>
          </a:p>
          <a:p>
            <a:pPr lvl="1"/>
            <a:r>
              <a:rPr lang="en-GB" sz="1600" dirty="0"/>
              <a:t>Child tickets of in-progress tickets inherit the priority of their parent and therefore warrant also becoming immediately in-progress</a:t>
            </a:r>
          </a:p>
          <a:p>
            <a:r>
              <a:rPr lang="en-GB" sz="1867" dirty="0"/>
              <a:t>Unequivocally Unanimous Decision via Crystal Ball</a:t>
            </a:r>
          </a:p>
          <a:p>
            <a:pPr lvl="1"/>
            <a:r>
              <a:rPr lang="en-GB" sz="1600" dirty="0"/>
              <a:t>There will be instances where a critical issue is discovered (e.g. “product catches fire”)</a:t>
            </a:r>
          </a:p>
          <a:p>
            <a:pPr lvl="1"/>
            <a:r>
              <a:rPr lang="en-GB" sz="1600" dirty="0"/>
              <a:t>In this case, it is reasonable that if a backlog grooming meeting was actually held it would be a unanimous decision to take to top of backlog</a:t>
            </a:r>
          </a:p>
          <a:p>
            <a:pPr lvl="1"/>
            <a:r>
              <a:rPr lang="en-GB" sz="1600" dirty="0"/>
              <a:t>Any of the leads can prioritize this themselves without an all-stakeholders meeting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0190C-129B-4C21-B2DD-71B93297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106967C8-49FC-7147-BF79-229754E4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96C8EF4C-4736-477B-AEA5-68E8F341D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722" y="2522950"/>
            <a:ext cx="21844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25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48CF97-9AD6-43AB-975D-CBA5A47A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Purging the Board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38EC31-66A1-4C43-9A1F-14C5D1731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133" dirty="0"/>
              <a:t>Use Jira fix versions and “release” them to purge the board</a:t>
            </a:r>
          </a:p>
          <a:p>
            <a:r>
              <a:rPr lang="en-GB" sz="2133" dirty="0"/>
              <a:t>Two types of fix version</a:t>
            </a:r>
          </a:p>
          <a:p>
            <a:pPr lvl="1"/>
            <a:r>
              <a:rPr lang="en-GB" sz="1867" dirty="0"/>
              <a:t>RELCAN/DEVSNAP</a:t>
            </a:r>
          </a:p>
          <a:p>
            <a:pPr lvl="2"/>
            <a:r>
              <a:rPr lang="en-GB" sz="1600" dirty="0"/>
              <a:t>E.g. </a:t>
            </a:r>
            <a:r>
              <a:rPr lang="en-GB" sz="1600" dirty="0">
                <a:latin typeface="Consolas" panose="020B0609020204030204" pitchFamily="49" charset="0"/>
              </a:rPr>
              <a:t>DB20001</a:t>
            </a:r>
            <a:r>
              <a:rPr lang="en-GB" sz="1600" dirty="0"/>
              <a:t>, </a:t>
            </a:r>
            <a:r>
              <a:rPr lang="en-GB" sz="1600" dirty="0">
                <a:latin typeface="Consolas" panose="020B0609020204030204" pitchFamily="49" charset="0"/>
              </a:rPr>
              <a:t>ROC-200420W-11556-I1-HB-RHUTWE0-24-DEVSNAP</a:t>
            </a:r>
          </a:p>
          <a:p>
            <a:pPr lvl="1"/>
            <a:r>
              <a:rPr lang="en-GB" sz="1867" dirty="0"/>
              <a:t>Sprint/timed</a:t>
            </a:r>
          </a:p>
          <a:p>
            <a:pPr lvl="2"/>
            <a:r>
              <a:rPr lang="en-GB" sz="1600" dirty="0"/>
              <a:t>E.g. </a:t>
            </a:r>
            <a:r>
              <a:rPr lang="en-GB" sz="1600" dirty="0">
                <a:latin typeface="Consolas" panose="020B0609020204030204" pitchFamily="49" charset="0"/>
              </a:rPr>
              <a:t>PIE2001S02</a:t>
            </a:r>
            <a:r>
              <a:rPr lang="en-GB" sz="1600" dirty="0">
                <a:latin typeface="+mj-lt"/>
              </a:rPr>
              <a:t>, </a:t>
            </a:r>
            <a:r>
              <a:rPr lang="en-GB" sz="1600" dirty="0">
                <a:latin typeface="Consolas" panose="020B0609020204030204" pitchFamily="49" charset="0"/>
              </a:rPr>
              <a:t>Y20W24</a:t>
            </a:r>
          </a:p>
          <a:p>
            <a:r>
              <a:rPr lang="en-GB" sz="2133" dirty="0"/>
              <a:t>All READY items get a sprint/timed fix version</a:t>
            </a:r>
          </a:p>
          <a:p>
            <a:r>
              <a:rPr lang="en-GB" sz="2133" dirty="0"/>
              <a:t>Tickets that affect product code get RELCAN/DEVSNAP fix versions</a:t>
            </a:r>
          </a:p>
          <a:p>
            <a:pPr lvl="1"/>
            <a:r>
              <a:rPr lang="en-GB" sz="1867" dirty="0"/>
              <a:t>…and the sprint/timed fix version</a:t>
            </a:r>
          </a:p>
          <a:p>
            <a:r>
              <a:rPr lang="en-GB" sz="2133" dirty="0"/>
              <a:t>Release RELCAN/DEVSNAP version when delivering</a:t>
            </a:r>
          </a:p>
          <a:p>
            <a:r>
              <a:rPr lang="en-GB" sz="2133" dirty="0"/>
              <a:t>Release sprint/timed versions at end of sprint/cadence</a:t>
            </a:r>
          </a:p>
          <a:p>
            <a:r>
              <a:rPr lang="en-GB" sz="2133" dirty="0"/>
              <a:t>Sprint/timed versions useful for archaeology</a:t>
            </a:r>
          </a:p>
          <a:p>
            <a:pPr lvl="1"/>
            <a:r>
              <a:rPr lang="en-GB" sz="1867" dirty="0"/>
              <a:t>What did we do and when?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F495AC-6D8C-4899-803C-0F4F8E79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64D0074D-414C-6A4A-868F-BC1879D0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1169119636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20F6D7-A768-4041-97D7-B78DB73A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an Issue as an Individual Contributor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EFD287-7B1A-4E98-91A0-5C84E2D43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133" dirty="0"/>
              <a:t>Ticket ownership – </a:t>
            </a:r>
            <a:r>
              <a:rPr lang="en-GB" sz="2133" b="1" dirty="0"/>
              <a:t>**you**</a:t>
            </a:r>
            <a:r>
              <a:rPr lang="en-GB" sz="2133" dirty="0"/>
              <a:t> own the issue</a:t>
            </a:r>
          </a:p>
          <a:p>
            <a:r>
              <a:rPr lang="en-GB" sz="2133" dirty="0"/>
              <a:t>Identify and seek-out the stakeholders</a:t>
            </a:r>
          </a:p>
          <a:p>
            <a:r>
              <a:rPr lang="en-GB" sz="2133" dirty="0"/>
              <a:t>Ask questions</a:t>
            </a:r>
          </a:p>
          <a:p>
            <a:r>
              <a:rPr lang="en-GB" sz="2133" dirty="0"/>
              <a:t>Understand the context</a:t>
            </a:r>
          </a:p>
          <a:p>
            <a:r>
              <a:rPr lang="en-GB" sz="2133" dirty="0"/>
              <a:t>Think about the wider impacts of issues and changes</a:t>
            </a:r>
          </a:p>
          <a:p>
            <a:r>
              <a:rPr lang="en-GB" sz="2133" dirty="0"/>
              <a:t>Present / record your recommendation and reasoning in the Jira thread</a:t>
            </a:r>
          </a:p>
          <a:p>
            <a:r>
              <a:rPr lang="en-GB" sz="2133" dirty="0"/>
              <a:t>Search for any duplicates and link them to the issue</a:t>
            </a:r>
          </a:p>
          <a:p>
            <a:endParaRPr lang="en-GB" sz="2133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A6EAE4-7292-4D94-BD70-46824FD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A1F4AA48-9DC9-7D41-B90E-6F170E93B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3163844125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7590D9-11AB-47D4-B0B8-27BBF8895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Straightest Path to Awesome is … Branching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53A0F1-A613-433A-B84F-E5F5F0743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133" dirty="0"/>
              <a:t>All work is carried out on feature branches</a:t>
            </a:r>
          </a:p>
          <a:p>
            <a:r>
              <a:rPr lang="en-GB" sz="2133" dirty="0"/>
              <a:t>Feature branches stored per product</a:t>
            </a:r>
          </a:p>
          <a:p>
            <a:pPr lvl="1"/>
            <a:r>
              <a:rPr lang="en-GB" sz="1867" dirty="0">
                <a:latin typeface="Consolas" panose="020B0609020204030204" pitchFamily="49" charset="0"/>
              </a:rPr>
              <a:t>/branches/&lt;product&gt;</a:t>
            </a:r>
          </a:p>
          <a:p>
            <a:pPr lvl="2"/>
            <a:r>
              <a:rPr lang="en-GB" sz="1600" dirty="0"/>
              <a:t>E.g. </a:t>
            </a:r>
            <a:r>
              <a:rPr lang="en-GB" sz="1600" dirty="0">
                <a:latin typeface="Consolas" panose="020B0609020204030204" pitchFamily="49" charset="0"/>
              </a:rPr>
              <a:t>/branches/9523_DB</a:t>
            </a:r>
          </a:p>
          <a:p>
            <a:r>
              <a:rPr lang="en-GB" sz="2133" dirty="0"/>
              <a:t>Feature branches named </a:t>
            </a:r>
            <a:r>
              <a:rPr lang="en-GB" sz="2133" dirty="0">
                <a:latin typeface="Consolas" panose="020B0609020204030204" pitchFamily="49" charset="0"/>
              </a:rPr>
              <a:t>&lt;jira ticket&gt;_&lt;description&gt;</a:t>
            </a:r>
            <a:endParaRPr lang="en-GB" sz="2133" dirty="0"/>
          </a:p>
          <a:p>
            <a:pPr lvl="1"/>
            <a:r>
              <a:rPr lang="en-GB" sz="1867" dirty="0">
                <a:latin typeface="Consolas" panose="020B0609020204030204" pitchFamily="49" charset="0"/>
              </a:rPr>
              <a:t>&lt;jira_ticket&gt;</a:t>
            </a:r>
            <a:r>
              <a:rPr lang="en-GB" sz="1867" dirty="0"/>
              <a:t> is the Jira ticket ID, e.g. </a:t>
            </a:r>
            <a:r>
              <a:rPr lang="en-GB" sz="1867" dirty="0">
                <a:latin typeface="Consolas" panose="020B0609020204030204" pitchFamily="49" charset="0"/>
              </a:rPr>
              <a:t>TD8-207</a:t>
            </a:r>
          </a:p>
          <a:p>
            <a:pPr lvl="1"/>
            <a:r>
              <a:rPr lang="en-GB" sz="1867" dirty="0">
                <a:latin typeface="Consolas" panose="020B0609020204030204" pitchFamily="49" charset="0"/>
              </a:rPr>
              <a:t>&lt;description&gt;</a:t>
            </a:r>
            <a:r>
              <a:rPr lang="en-GB" sz="1867" dirty="0"/>
              <a:t> is a human-readable short description, </a:t>
            </a:r>
            <a:r>
              <a:rPr lang="en-GB" sz="1867" dirty="0">
                <a:latin typeface="Consolas" panose="020B0609020204030204" pitchFamily="49" charset="0"/>
              </a:rPr>
              <a:t>bcch_type_ii_ptt</a:t>
            </a:r>
          </a:p>
          <a:p>
            <a:pPr lvl="1"/>
            <a:r>
              <a:rPr lang="en-GB" sz="1867" dirty="0"/>
              <a:t>Example</a:t>
            </a:r>
          </a:p>
          <a:p>
            <a:pPr lvl="2"/>
            <a:r>
              <a:rPr lang="en-GB" sz="1600" dirty="0">
                <a:latin typeface="Consolas" panose="020B0609020204030204" pitchFamily="49" charset="0"/>
              </a:rPr>
              <a:t>/branches/9523_DB/TD8-207_bcch_type_ii_ptt</a:t>
            </a:r>
          </a:p>
          <a:p>
            <a:endParaRPr lang="en-GB" sz="2133" dirty="0"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0289F6-0148-4349-8B07-A4DCCC46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2B9C67FB-CC9E-A54A-BD2F-BEBF160F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1679108396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3EC6AF-B901-41B4-8381-3241B6A5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Quality Assurance == Peer Reviews for the Win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7C009E-91E2-4B59-B7F9-9C8759EFD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133" dirty="0"/>
              <a:t>Tickets are cross-reviewed</a:t>
            </a:r>
          </a:p>
          <a:p>
            <a:pPr lvl="1"/>
            <a:r>
              <a:rPr lang="en-GB" sz="1867" dirty="0"/>
              <a:t>Reviewed by other team members and/or SME</a:t>
            </a:r>
          </a:p>
          <a:p>
            <a:pPr lvl="1"/>
            <a:r>
              <a:rPr lang="en-GB" sz="1867" dirty="0"/>
              <a:t>Reviewer performs merge</a:t>
            </a:r>
          </a:p>
          <a:p>
            <a:pPr lvl="1"/>
            <a:r>
              <a:rPr lang="en-GB" sz="1867" dirty="0"/>
              <a:t>Include Jira ticket number in the merge commit comment, e.g.</a:t>
            </a:r>
          </a:p>
          <a:p>
            <a:pPr lvl="2"/>
            <a:r>
              <a:rPr lang="en-GB" sz="1400" dirty="0">
                <a:latin typeface="Consolas" panose="020B0609020204030204" pitchFamily="49" charset="0"/>
              </a:rPr>
              <a:t>TD8-152: Improve beam selection in PTT with NEXT beam configuration</a:t>
            </a:r>
          </a:p>
          <a:p>
            <a:pPr lvl="1"/>
            <a:r>
              <a:rPr lang="en-GB" sz="1867" dirty="0"/>
              <a:t>Branch is reviewed, merged then deleted</a:t>
            </a:r>
          </a:p>
          <a:p>
            <a:pPr lvl="2"/>
            <a:r>
              <a:rPr lang="en-GB" sz="1600" dirty="0"/>
              <a:t>Jira comment added to document versions involved:</a:t>
            </a:r>
          </a:p>
          <a:p>
            <a:pPr lvl="3"/>
            <a:r>
              <a:rPr lang="en-GB" sz="1400" dirty="0">
                <a:latin typeface="Consolas" panose="020B0609020204030204" pitchFamily="49" charset="0"/>
              </a:rPr>
              <a:t>Reviewed IRDM://&lt;feature branch&gt; rAAAAA.</a:t>
            </a:r>
          </a:p>
          <a:p>
            <a:pPr lvl="3"/>
            <a:r>
              <a:rPr lang="en-GB" sz="1400" dirty="0">
                <a:latin typeface="Consolas" panose="020B0609020204030204" pitchFamily="49" charset="0"/>
              </a:rPr>
              <a:t>Merged to IRDM://&lt;main branch&gt; rBBBBB.</a:t>
            </a:r>
          </a:p>
          <a:p>
            <a:pPr lvl="3"/>
            <a:r>
              <a:rPr lang="en-GB" sz="1400" dirty="0">
                <a:latin typeface="Consolas" panose="020B0609020204030204" pitchFamily="49" charset="0"/>
              </a:rPr>
              <a:t>Deleted branch IRDM://&lt;feature branch&gt; rCCCCC.</a:t>
            </a:r>
          </a:p>
          <a:p>
            <a:pPr lvl="2"/>
            <a:r>
              <a:rPr lang="en-GB" sz="1600" dirty="0"/>
              <a:t>For example:</a:t>
            </a:r>
          </a:p>
          <a:p>
            <a:pPr lvl="3"/>
            <a:r>
              <a:rPr lang="en-GB" sz="1400" dirty="0">
                <a:latin typeface="Consolas" panose="020B0609020204030204" pitchFamily="49" charset="0"/>
              </a:rPr>
              <a:t>Reviewed IRDM://talladega2/branches/sbd6/TD2-277_osc_warp_protection r5397</a:t>
            </a:r>
          </a:p>
          <a:p>
            <a:pPr lvl="3"/>
            <a:r>
              <a:rPr lang="en-GB" sz="1400" dirty="0">
                <a:latin typeface="Consolas" panose="020B0609020204030204" pitchFamily="49" charset="0"/>
              </a:rPr>
              <a:t>Merged to IRDM://talladega2/trunk/sbd6 r5404</a:t>
            </a:r>
          </a:p>
          <a:p>
            <a:pPr lvl="3"/>
            <a:r>
              <a:rPr lang="en-GB" sz="1400" dirty="0">
                <a:latin typeface="Consolas" panose="020B0609020204030204" pitchFamily="49" charset="0"/>
              </a:rPr>
              <a:t>Deleted branch IRDM://talladega2/branches/sbd6/TD2-277_osc_warp_protection r5405</a:t>
            </a:r>
          </a:p>
          <a:p>
            <a:r>
              <a:rPr lang="en-GB" sz="2133" dirty="0"/>
              <a:t>Reviewer should also search for and link duplicates</a:t>
            </a:r>
          </a:p>
          <a:p>
            <a:pPr lvl="1"/>
            <a:r>
              <a:rPr lang="en-GB" sz="1867" dirty="0"/>
              <a:t>Second perspective on duplicate tickets</a:t>
            </a:r>
          </a:p>
          <a:p>
            <a:r>
              <a:rPr lang="en-GB" sz="2133" dirty="0"/>
              <a:t>Re-assign ticket to main contributor for transition to READY including TL;DR</a:t>
            </a:r>
          </a:p>
          <a:p>
            <a:pPr lvl="3"/>
            <a:endParaRPr lang="en-GB" sz="1400" dirty="0">
              <a:latin typeface="Consolas" panose="020B0609020204030204" pitchFamily="49" charset="0"/>
            </a:endParaRPr>
          </a:p>
          <a:p>
            <a:endParaRPr lang="en-GB" sz="2133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E5234-A055-41E4-B101-FCDFC3E8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93D75B17-5B53-A845-B1BB-454F94E8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3550314693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E65619-7EF3-46DA-99AD-12D54F28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Miscellaneous Topic: Sub-Issues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BBE3E8-38F1-4234-B9EF-1FAB164C7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67" dirty="0"/>
              <a:t>Jira framework supports sub-issues</a:t>
            </a:r>
          </a:p>
          <a:p>
            <a:r>
              <a:rPr lang="en-GB" sz="1867" dirty="0"/>
              <a:t>Useful for tracking features/work with multiple parts (and/or multiple owners)</a:t>
            </a:r>
          </a:p>
          <a:p>
            <a:pPr lvl="1"/>
            <a:r>
              <a:rPr lang="en-GB" sz="1600" dirty="0"/>
              <a:t>Top-level ticket describes main feature</a:t>
            </a:r>
          </a:p>
          <a:p>
            <a:pPr lvl="1"/>
            <a:r>
              <a:rPr lang="en-GB" sz="1600" dirty="0"/>
              <a:t>Sub-issues detail portions of the task</a:t>
            </a:r>
          </a:p>
          <a:p>
            <a:pPr lvl="2"/>
            <a:r>
              <a:rPr lang="en-GB" sz="1467" dirty="0"/>
              <a:t>May be able to carry out the sub-issues in parallel</a:t>
            </a:r>
          </a:p>
          <a:p>
            <a:r>
              <a:rPr lang="en-GB" sz="1867" dirty="0"/>
              <a:t>Use Sub-Issues if and only if;</a:t>
            </a:r>
          </a:p>
          <a:p>
            <a:pPr lvl="1"/>
            <a:r>
              <a:rPr lang="en-GB" sz="1600" dirty="0"/>
              <a:t>Activity is “worthy of it’s own Definition of Done”</a:t>
            </a:r>
          </a:p>
          <a:p>
            <a:pPr lvl="1"/>
            <a:r>
              <a:rPr lang="en-GB" sz="1600" dirty="0"/>
              <a:t>Multiple strands to be worked in parallel by multiple people</a:t>
            </a:r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EC7804-F570-4DDB-AAAF-928F34B5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822BD9-4578-45CD-A07E-A38B155AB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751" y="3976433"/>
            <a:ext cx="2712149" cy="2041965"/>
          </a:xfrm>
          <a:prstGeom prst="rect">
            <a:avLst/>
          </a:prstGeom>
        </p:spPr>
      </p:pic>
      <p:pic>
        <p:nvPicPr>
          <p:cNvPr id="1028" name="Picture 4" descr="Difference Between Risk Management And Issue Management?">
            <a:hlinkClick r:id="rId3"/>
            <a:extLst>
              <a:ext uri="{FF2B5EF4-FFF2-40B4-BE49-F238E27FC236}">
                <a16:creationId xmlns:a16="http://schemas.microsoft.com/office/drawing/2014/main" id="{D460AC0D-6E9D-4179-8E26-F86381813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103" y="4054970"/>
            <a:ext cx="1884891" cy="188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DF4C8458-A947-9241-8ED2-F608A37D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</p:spTree>
    <p:extLst>
      <p:ext uri="{BB962C8B-B14F-4D97-AF65-F5344CB8AC3E}">
        <p14:creationId xmlns:p14="http://schemas.microsoft.com/office/powerpoint/2010/main" val="4037161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E65619-7EF3-46DA-99AD-12D54F28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Closing with Confidence // Ticket Miscellany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BBE3E8-38F1-4234-B9EF-1FAB164C7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67" dirty="0"/>
              <a:t>A healthy ticket should have 5 to 20 comments when course run (95% of the time)</a:t>
            </a:r>
          </a:p>
          <a:p>
            <a:pPr lvl="1"/>
            <a:r>
              <a:rPr lang="en-GB" sz="1600" dirty="0"/>
              <a:t>If less than 5 the task scope might not have been big enough</a:t>
            </a:r>
          </a:p>
          <a:p>
            <a:pPr lvl="1"/>
            <a:r>
              <a:rPr lang="en-GB" sz="1600" dirty="0"/>
              <a:t>If more than 20 the task scope might have been too big – should have been broken into smaller tickets (a ticket this long becomes //impossible// to read)</a:t>
            </a:r>
          </a:p>
          <a:p>
            <a:pPr>
              <a:spcBef>
                <a:spcPts val="600"/>
              </a:spcBef>
            </a:pPr>
            <a:r>
              <a:rPr lang="en-GB" sz="1867" dirty="0"/>
              <a:t>Avoiding the JIRA ticket “CLONING” feature is highly encouraged</a:t>
            </a:r>
          </a:p>
          <a:p>
            <a:pPr lvl="1"/>
            <a:r>
              <a:rPr lang="en-US" sz="1600" dirty="0"/>
              <a:t>There are typically a non-trivial number of things you need to “reset” - and remember to add</a:t>
            </a:r>
          </a:p>
          <a:p>
            <a:pPr lvl="1"/>
            <a:r>
              <a:rPr lang="en-US" sz="1600" dirty="0"/>
              <a:t>Has been shown to cause more wasted time and effort in the resulting confusion (and lost tickets actually – as user permissions have to be set too) than the convenience value it is supposed to create</a:t>
            </a:r>
          </a:p>
          <a:p>
            <a:pPr lvl="1"/>
            <a:r>
              <a:rPr lang="en-US" sz="1600" dirty="0"/>
              <a:t>Among many other things, if a ticket //does// get CLONED be sure to remove the “CLONE - “ that JIRA prepends to the ticket summary – it’s just </a:t>
            </a:r>
            <a:r>
              <a:rPr lang="en-GB" sz="1600" dirty="0" err="1"/>
              <a:t>ust</a:t>
            </a:r>
            <a:r>
              <a:rPr lang="en-GB" sz="1600" dirty="0"/>
              <a:t> useless noise</a:t>
            </a:r>
          </a:p>
          <a:p>
            <a:pPr>
              <a:spcBef>
                <a:spcPts val="600"/>
              </a:spcBef>
            </a:pPr>
            <a:r>
              <a:rPr lang="en-GB" sz="1867" dirty="0"/>
              <a:t>Some project databases have work that is funded from multiple sources</a:t>
            </a:r>
          </a:p>
          <a:p>
            <a:pPr lvl="1"/>
            <a:r>
              <a:rPr lang="en-GB" sz="1600" dirty="0"/>
              <a:t>Project Lead puts a label on the ticket when in the backlog</a:t>
            </a:r>
          </a:p>
          <a:p>
            <a:pPr lvl="1"/>
            <a:r>
              <a:rPr lang="en-GB" sz="1600" dirty="0"/>
              <a:t>Individual Contributors charge their time to the project indicated on the ticket</a:t>
            </a:r>
          </a:p>
          <a:p>
            <a:pPr>
              <a:spcBef>
                <a:spcPts val="600"/>
              </a:spcBef>
            </a:pPr>
            <a:r>
              <a:rPr lang="en-GB" sz="1867" dirty="0"/>
              <a:t>Use Ticket Links!</a:t>
            </a:r>
          </a:p>
          <a:p>
            <a:pPr lvl="1"/>
            <a:r>
              <a:rPr lang="en-GB" sz="1600" dirty="0"/>
              <a:t>No doubt you are going to need to “find” a ticket you know exists – but your search is going to lead you to a related ticket. Do yourself (and everyone else) a </a:t>
            </a:r>
            <a:r>
              <a:rPr lang="en-US" sz="1600" dirty="0"/>
              <a:t>favor</a:t>
            </a:r>
            <a:r>
              <a:rPr lang="en-GB" sz="1600" dirty="0"/>
              <a:t> and use JIRA ticket links to tie them together.</a:t>
            </a:r>
          </a:p>
          <a:p>
            <a:pPr>
              <a:spcBef>
                <a:spcPts val="600"/>
              </a:spcBef>
            </a:pPr>
            <a:r>
              <a:rPr lang="en-US" sz="1867" dirty="0"/>
              <a:t>Tickets are cheap: File new one if there is any chance something new isn’t related to current ticket</a:t>
            </a:r>
          </a:p>
          <a:p>
            <a:pPr lvl="1"/>
            <a:r>
              <a:rPr lang="en-US" sz="1600" dirty="0"/>
              <a:t>Hard to separate the colors of dirt once the water is muddied by more than one</a:t>
            </a:r>
          </a:p>
          <a:p>
            <a:endParaRPr lang="en-GB" sz="1867" dirty="0"/>
          </a:p>
          <a:p>
            <a:endParaRPr lang="en-GB" sz="2133" dirty="0"/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EC7804-F570-4DDB-AAAF-928F34B5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F1FD422B-CAAB-4A4A-90F9-49578AAE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2050" name="Picture 2" descr="Home Organization">
            <a:extLst>
              <a:ext uri="{FF2B5EF4-FFF2-40B4-BE49-F238E27FC236}">
                <a16:creationId xmlns:a16="http://schemas.microsoft.com/office/drawing/2014/main" id="{8127A800-E741-B049-B90B-1513EC97B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131" y="116118"/>
            <a:ext cx="2218541" cy="166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362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CA508-2041-43E5-833F-467B35124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and Open Q/A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A8795D-C7C4-4575-809B-845DFFF8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6490" y="1228726"/>
            <a:ext cx="5091956" cy="4984648"/>
          </a:xfrm>
        </p:spPr>
        <p:txBody>
          <a:bodyPr/>
          <a:lstStyle/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(/) Raising Tickets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/>
              <a:t>(/) Ticket Summary Field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/>
              <a:t>(/) Ticket Description Field (2)</a:t>
            </a:r>
          </a:p>
          <a:p>
            <a:pPr marL="801688" lvl="1" indent="-227013">
              <a:tabLst>
                <a:tab pos="568325" algn="l"/>
              </a:tabLst>
            </a:pPr>
            <a:r>
              <a:rPr lang="en-GB" dirty="0"/>
              <a:t>(/) Ticket “Definition of Done”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(/) Comment Threads (3)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(/) TL;DRs (2)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(/) Ticket Workflow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(/) Kanban Board (1)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(/) Backlogs (5)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(x) Team Leads (1) [optional]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(x) Software Specific (3) [optional]</a:t>
            </a:r>
          </a:p>
          <a:p>
            <a: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dirty="0"/>
              <a:t>(/) Ticket Miscellany 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8CD044-537F-4AAF-9C3E-4E7EB80E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615E-C475-D747-A9E3-81F4D99D7E3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F8F2AC7-A944-DA4E-8603-5F094326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15" y="6443926"/>
            <a:ext cx="5358040" cy="365125"/>
          </a:xfrm>
        </p:spPr>
        <p:txBody>
          <a:bodyPr/>
          <a:lstStyle/>
          <a:p>
            <a:r>
              <a:rPr lang="en-US" dirty="0"/>
              <a:t>IRIDIUM PROPRIETARY BUSINESS INFORMATION // IRDM-0910-SD-001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18F51F7E-B713-7E44-AEA1-3FC0A9464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45" y="1228726"/>
            <a:ext cx="3833365" cy="44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489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571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2BB992-394C-4D25-A980-8E42F9E1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History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BE10F-65FC-46BD-92E3-52ED4279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v1.0 - 14 SEP 2020 - Garrett Chandler</a:t>
            </a:r>
          </a:p>
          <a:p>
            <a:pPr lvl="1"/>
            <a:r>
              <a:rPr lang="en-US" dirty="0"/>
              <a:t>Forked from IRDM-0910-SD-001 'Iridium Mobile Product Software Change Process Blueprint’</a:t>
            </a:r>
          </a:p>
          <a:p>
            <a:r>
              <a:rPr lang="en-US" dirty="0"/>
              <a:t>v1.3 - 02 APR 2021 - Garrett Chandler</a:t>
            </a:r>
          </a:p>
          <a:p>
            <a:pPr lvl="1"/>
            <a:r>
              <a:rPr lang="en-US" dirty="0"/>
              <a:t>Moved to new corporate template and minor updates</a:t>
            </a:r>
          </a:p>
          <a:p>
            <a:pPr lvl="1"/>
            <a:r>
              <a:rPr lang="en-US" dirty="0"/>
              <a:t>Fully expect v1.1 and v1.2 were both also minor updates too</a:t>
            </a:r>
          </a:p>
          <a:p>
            <a:r>
              <a:rPr lang="en-US" dirty="0"/>
              <a:t>v1.4 - 27 APR 2021 - Garrett Chandler</a:t>
            </a:r>
          </a:p>
          <a:p>
            <a:pPr lvl="1"/>
            <a:r>
              <a:rPr lang="en-US" dirty="0"/>
              <a:t>Updates during/after training session conducted this month</a:t>
            </a:r>
          </a:p>
          <a:p>
            <a:pPr lvl="1"/>
            <a:r>
              <a:rPr lang="en-US" dirty="0"/>
              <a:t>Clarified the “title” and “description” JIRA terminology</a:t>
            </a:r>
          </a:p>
          <a:p>
            <a:pPr lvl="1"/>
            <a:r>
              <a:rPr lang="en-US" dirty="0"/>
              <a:t>Added details about how to assign DoD items to individuals and/or groups</a:t>
            </a:r>
          </a:p>
          <a:p>
            <a:pPr lvl="1"/>
            <a:r>
              <a:rPr lang="en-US" dirty="0"/>
              <a:t>Added info about the Product Support [PS] markup</a:t>
            </a:r>
          </a:p>
          <a:p>
            <a:r>
              <a:rPr lang="en-US" dirty="0"/>
              <a:t>v1.5 - 19 NOV 2021 - Garrett Chandler</a:t>
            </a:r>
          </a:p>
          <a:p>
            <a:pPr lvl="1"/>
            <a:r>
              <a:rPr lang="en-US" dirty="0"/>
              <a:t>Minor tweaks for clarification with fresh eyes before/during next major training cohort</a:t>
            </a:r>
          </a:p>
          <a:p>
            <a:pPr lvl="1"/>
            <a:r>
              <a:rPr lang="en-US" dirty="0"/>
              <a:t>Documentation of process related to [PS] and [MERGE] ticket prefixes</a:t>
            </a:r>
          </a:p>
        </p:txBody>
      </p:sp>
    </p:spTree>
    <p:extLst>
      <p:ext uri="{BB962C8B-B14F-4D97-AF65-F5344CB8AC3E}">
        <p14:creationId xmlns:p14="http://schemas.microsoft.com/office/powerpoint/2010/main" val="2096778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2BB992-394C-4D25-A980-8E42F9E1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History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BE10F-65FC-46BD-92E3-52ED4279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v1.6 - 03 DEC 2021 - Garrett Chandler</a:t>
            </a:r>
          </a:p>
          <a:p>
            <a:pPr lvl="1"/>
            <a:r>
              <a:rPr lang="en-US" dirty="0"/>
              <a:t>Minor tweaks as observed during Raj’s first cohort</a:t>
            </a:r>
          </a:p>
          <a:p>
            <a:r>
              <a:rPr lang="en-US" dirty="0"/>
              <a:t>v1.7 - 26 SEP 2022 - Garrett Chandler</a:t>
            </a:r>
          </a:p>
          <a:p>
            <a:pPr lvl="1"/>
            <a:r>
              <a:rPr lang="en-US" dirty="0"/>
              <a:t>Minor tweaks coming out of the session with the most recent cohort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572034"/>
      </p:ext>
    </p:extLst>
  </p:cSld>
  <p:clrMapOvr>
    <a:masterClrMapping/>
  </p:clrMapOvr>
</p:sld>
</file>

<file path=ppt/theme/theme1.xml><?xml version="1.0" encoding="utf-8"?>
<a:theme xmlns:a="http://schemas.openxmlformats.org/drawingml/2006/main" name="Iridium Light Theme 2021">
  <a:themeElements>
    <a:clrScheme name="Custom 1">
      <a:dk1>
        <a:srgbClr val="33383E"/>
      </a:dk1>
      <a:lt1>
        <a:srgbClr val="FFFFFF"/>
      </a:lt1>
      <a:dk2>
        <a:srgbClr val="33383E"/>
      </a:dk2>
      <a:lt2>
        <a:srgbClr val="FFFFFF"/>
      </a:lt2>
      <a:accent1>
        <a:srgbClr val="FCB131"/>
      </a:accent1>
      <a:accent2>
        <a:srgbClr val="95A0A9"/>
      </a:accent2>
      <a:accent3>
        <a:srgbClr val="12ABC9"/>
      </a:accent3>
      <a:accent4>
        <a:srgbClr val="7CB01A"/>
      </a:accent4>
      <a:accent5>
        <a:srgbClr val="FC610D"/>
      </a:accent5>
      <a:accent6>
        <a:srgbClr val="458CCC"/>
      </a:accent6>
      <a:hlink>
        <a:srgbClr val="FCB131"/>
      </a:hlink>
      <a:folHlink>
        <a:srgbClr val="104C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ND_Corporate Presentation Template_16x9_030921.pptx" id="{DF084B59-E479-4622-A025-AD92354F4FE5}" vid="{9E41D5C5-01D3-4AC5-BDB2-B37D2B952D61}"/>
    </a:ext>
  </a:extLst>
</a:theme>
</file>

<file path=ppt/theme/theme2.xml><?xml version="1.0" encoding="utf-8"?>
<a:theme xmlns:a="http://schemas.openxmlformats.org/drawingml/2006/main" name="Iridium Dark Theme 2021">
  <a:themeElements>
    <a:clrScheme name="Custom 1">
      <a:dk1>
        <a:srgbClr val="33383E"/>
      </a:dk1>
      <a:lt1>
        <a:srgbClr val="FFFFFF"/>
      </a:lt1>
      <a:dk2>
        <a:srgbClr val="33383E"/>
      </a:dk2>
      <a:lt2>
        <a:srgbClr val="FFFFFF"/>
      </a:lt2>
      <a:accent1>
        <a:srgbClr val="FCB131"/>
      </a:accent1>
      <a:accent2>
        <a:srgbClr val="95A0A9"/>
      </a:accent2>
      <a:accent3>
        <a:srgbClr val="12ABC9"/>
      </a:accent3>
      <a:accent4>
        <a:srgbClr val="7CB01A"/>
      </a:accent4>
      <a:accent5>
        <a:srgbClr val="FC610D"/>
      </a:accent5>
      <a:accent6>
        <a:srgbClr val="458CCC"/>
      </a:accent6>
      <a:hlink>
        <a:srgbClr val="FCB131"/>
      </a:hlink>
      <a:folHlink>
        <a:srgbClr val="104C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ND_Corporate Presentation Template_16x9_030921.pptx" id="{DF084B59-E479-4622-A025-AD92354F4FE5}" vid="{A1770F9D-65E1-4F2B-8E53-28DA0F26878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sDeclareReady xmlns="69827baf-44c8-4d6e-8fca-09c541b72215">false</isDeclareReady>
    <TaxCatchAll xmlns="69827baf-44c8-4d6e-8fca-09c541b72215" xsi:nil="true"/>
    <summary xmlns="69827baf-44c8-4d6e-8fca-09c541b72215" xsi:nil="true"/>
    <displayname xmlns="69827baf-44c8-4d6e-8fca-09c541b72215">IRDM-0910-SD-001 v1.7 - Product Engineering JIRA Ticket Management Overview and Training.pptx</displayname>
    <_x007b_101A19A5-63B6-495e-B3A3-98C73E269219_x007d_ xmlns="69827baf-44c8-4d6e-8fca-09c541b72215">Document</_x007b_101A19A5-63B6-495e-B3A3-98C73E269219_x007d_>
    <url_1 xmlns="69827baf-44c8-4d6e-8fca-09c541b72215">
      <Url xsi:nil="true"/>
      <Description xsi:nil="true"/>
    </url_1>
    <typeNum xmlns="69827baf-44c8-4d6e-8fca-09c541b72215">3</typeNum>
    <versionHandleNum xmlns="69827baf-44c8-4d6e-8fca-09c541b72215">v_Document-579202</versionHandleNum>
    <baseTypeNum xmlns="69827baf-44c8-4d6e-8fca-09c541b72215">3</baseTypeNum>
    <keyWords xmlns="69827baf-44c8-4d6e-8fca-09c541b72215" xsi:nil="true"/>
    <contentType_1 xmlns="69827baf-44c8-4d6e-8fca-09c541b72215" xsi:nil="true"/>
    <versionUrl xmlns="69827baf-44c8-4d6e-8fca-09c541b72215">
      <Url>https://docushare.iridium.com/docushare/Get/v_Document-579202/IRDM-0910-SD-001 v1.7 - Product Engineering JIRA Ticket Management Overview and Training.pptx</Url>
      <Description>https://docushare.iridium.com/docushare/Get/v_Document-579202/IRDM-0910-SD-001 v1.7 - Product Engineering JIRA Ticket Management Overview and Training.pptx</Description>
    </versionUrl>
    <expirationDate xmlns="69827baf-44c8-4d6e-8fca-09c541b72215" xsi:nil="true"/>
    <_tzSourceUrl xmlns="69827baf-44c8-4d6e-8fca-09c541b72215">File-579202/1</_tzSourceUrl>
    <wikiField xmlns="69827baf-44c8-4d6e-8fca-09c541b72215" xsi:nil="true"/>
    <handle xmlns="69827baf-44c8-4d6e-8fca-09c541b72215">File-579202</handle>
    <maximumVersionsProperty xmlns="69827baf-44c8-4d6e-8fca-09c541b72215">1000</maximumVersionsProperty>
    <isRecord xmlns="69827baf-44c8-4d6e-8fca-09c541b72215">false</isRecord>
    <appearsIn xmlns="69827baf-44c8-4d6e-8fca-09c541b72215">Documents</appearsIn>
    <handleNum xmlns="69827baf-44c8-4d6e-8fca-09c541b72215">579202</handleNum>
    <baseType xmlns="69827baf-44c8-4d6e-8fca-09c541b72215">File</baseType>
    <rootType xmlns="69827baf-44c8-4d6e-8fca-09c541b72215">File</rootType>
    <tztdxfolderpath xmlns="69827baf-44c8-4d6e-8fca-09c541b72215">/0225 Gateway and Mobile Product Development Dept Admin/Documents</tztdxfolderpath>
    <abstract xmlns="69827baf-44c8-4d6e-8fca-09c541b72215" xsi:nil="true"/>
    <itemURL xmlns="69827baf-44c8-4d6e-8fca-09c541b72215">https://docushare.iridium.com/docushare/dscgi/ds.py/Get/File-579202/IRDM-0910-SD-001 v1.7 - Product Engineering JIRA Ticket Management Overview and Training.pptx</itemURL>
    <fileName xmlns="69827baf-44c8-4d6e-8fca-09c541b72215">IRDM-0910-SD-001 v1.7 - Product Engineering JIRA Ticket Management Overview and Training.pptx</fileName>
    <attachmentsOnly xmlns="69827baf-44c8-4d6e-8fca-09c541b72215" xsi:nil="true"/>
    <lockedBy xmlns="69827baf-44c8-4d6e-8fca-09c541b72215">
      <UserInfo>
        <DisplayName/>
        <AccountId xsi:nil="true"/>
        <AccountType/>
      </UserInfo>
    </lockedBy>
    <owner xmlns="69827baf-44c8-4d6e-8fca-09c541b72215">
      <UserInfo>
        <DisplayName/>
        <AccountId>19</AccountId>
        <AccountType/>
      </UserInfo>
    </owner>
    <isPreferred xmlns="69827baf-44c8-4d6e-8fca-09c541b72215">true</isPreferred>
    <rootTypeNum xmlns="69827baf-44c8-4d6e-8fca-09c541b72215">3</rootTypeNum>
    <author_x0028_1_x0029_ xmlns="69827baf-44c8-4d6e-8fca-09c541b72215" xsi:nil="true"/>
    <author_1 xmlns="69827baf-44c8-4d6e-8fca-09c541b72215" xsi:nil="true"/>
    <type xmlns="69827baf-44c8-4d6e-8fca-09c541b72215">File</type>
    <lcf76f155ced4ddcb4097134ff3c332f xmlns="01a8d780-103f-437e-a7af-e5a57fb7162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7601908D097B40997BD1420F650EE7" ma:contentTypeVersion="46" ma:contentTypeDescription="Create a new document." ma:contentTypeScope="" ma:versionID="503bc319478be412aeacf87445f8d006">
  <xsd:schema xmlns:xsd="http://www.w3.org/2001/XMLSchema" xmlns:xs="http://www.w3.org/2001/XMLSchema" xmlns:p="http://schemas.microsoft.com/office/2006/metadata/properties" xmlns:ns2="69827baf-44c8-4d6e-8fca-09c541b72215" xmlns:ns3="01a8d780-103f-437e-a7af-e5a57fb7162e" targetNamespace="http://schemas.microsoft.com/office/2006/metadata/properties" ma:root="true" ma:fieldsID="6c35cbcaf63a83b8c0ed4e05bf300c23" ns2:_="" ns3:_="">
    <xsd:import namespace="69827baf-44c8-4d6e-8fca-09c541b72215"/>
    <xsd:import namespace="01a8d780-103f-437e-a7af-e5a57fb7162e"/>
    <xsd:element name="properties">
      <xsd:complexType>
        <xsd:sequence>
          <xsd:element name="documentManagement">
            <xsd:complexType>
              <xsd:all>
                <xsd:element ref="ns2:_tzSourceUrl" minOccurs="0"/>
                <xsd:element ref="ns2:author_1" minOccurs="0"/>
                <xsd:element ref="ns2:keyWords" minOccurs="0"/>
                <xsd:element ref="ns2:contentType_1" minOccurs="0"/>
                <xsd:element ref="ns2:owner" minOccurs="0"/>
                <xsd:element ref="ns2:summary" minOccurs="0"/>
                <xsd:element ref="ns2:appearsIn" minOccurs="0"/>
                <xsd:element ref="ns2:itemURL" minOccurs="0"/>
                <xsd:element ref="ns2:handle" minOccurs="0"/>
                <xsd:element ref="ns2:handleNum" minOccurs="0"/>
                <xsd:element ref="ns2:versionHandleNum" minOccurs="0"/>
                <xsd:element ref="ns2:type" minOccurs="0"/>
                <xsd:element ref="ns2:typeNum" minOccurs="0"/>
                <xsd:element ref="ns2:baseType" minOccurs="0"/>
                <xsd:element ref="ns2:baseTypeNum" minOccurs="0"/>
                <xsd:element ref="ns2:rootType" minOccurs="0"/>
                <xsd:element ref="ns2:rootTypeNum" minOccurs="0"/>
                <xsd:element ref="ns2:fileName" minOccurs="0"/>
                <xsd:element ref="ns2:isPreferred" minOccurs="0"/>
                <xsd:element ref="ns2:maximumVersionsProperty" minOccurs="0"/>
                <xsd:element ref="ns2:isDeclareReady" minOccurs="0"/>
                <xsd:element ref="ns2:lockedBy" minOccurs="0"/>
                <xsd:element ref="ns2:isRecord" minOccurs="0"/>
                <xsd:element ref="ns2:versionUrl" minOccurs="0"/>
                <xsd:element ref="ns2:displayname" minOccurs="0"/>
                <xsd:element ref="ns2:tztdxfolderpath" minOccurs="0"/>
                <xsd:element ref="ns2:author_x0028_1_x0029_" minOccurs="0"/>
                <xsd:element ref="ns2:_x007b_101A19A5-63B6-495e-B3A3-98C73E269219_x007d_" minOccurs="0"/>
                <xsd:element ref="ns2:attachmentsOnly" minOccurs="0"/>
                <xsd:element ref="ns2:url_1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2:abstract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2:expirationDate" minOccurs="0"/>
                <xsd:element ref="ns2:wiki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827baf-44c8-4d6e-8fca-09c541b72215" elementFormDefault="qualified">
    <xsd:import namespace="http://schemas.microsoft.com/office/2006/documentManagement/types"/>
    <xsd:import namespace="http://schemas.microsoft.com/office/infopath/2007/PartnerControls"/>
    <xsd:element name="_tzSourceUrl" ma:index="8" nillable="true" ma:displayName="Tzunami Source URL" ma:description="The source URL of the item" ma:format="" ma:hidden="true" ma:internalName="_tzSourceUrl" ma:readOnly="false">
      <xsd:simpleType>
        <xsd:restriction base="dms:Text"/>
      </xsd:simpleType>
    </xsd:element>
    <xsd:element name="author_1" ma:index="9" nillable="true" ma:displayName="Author" ma:description="" ma:format="" ma:internalName="author_1" ma:readOnly="false">
      <xsd:simpleType>
        <xsd:restriction base="dms:Text"/>
      </xsd:simpleType>
    </xsd:element>
    <xsd:element name="keyWords" ma:index="10" nillable="true" ma:displayName="Keywords" ma:description="" ma:format="" ma:internalName="keyWords" ma:readOnly="false">
      <xsd:simpleType>
        <xsd:restriction base="dms:Text"/>
      </xsd:simpleType>
    </xsd:element>
    <xsd:element name="contentType_1" ma:index="11" nillable="true" ma:displayName="Content Type" ma:description="" ma:format="" ma:internalName="contentType_1" ma:readOnly="false">
      <xsd:simpleType>
        <xsd:restriction base="dms:Text"/>
      </xsd:simpleType>
    </xsd:element>
    <xsd:element name="owner" ma:index="12" nillable="true" ma:displayName="Owner" ma:description="" ma:format="" ma:list="UserInfo" ma:internalName="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ummary" ma:index="13" nillable="true" ma:displayName="Summary" ma:description="" ma:format="" ma:internalName="summary" ma:readOnly="false">
      <xsd:simpleType>
        <xsd:restriction base="dms:Text"/>
      </xsd:simpleType>
    </xsd:element>
    <xsd:element name="appearsIn" ma:index="14" nillable="true" ma:displayName="Appears In" ma:description="" ma:format="" ma:internalName="appearsIn" ma:readOnly="false">
      <xsd:simpleType>
        <xsd:restriction base="dms:Text"/>
      </xsd:simpleType>
    </xsd:element>
    <xsd:element name="itemURL" ma:index="15" nillable="true" ma:displayName="ItemURL" ma:description="" ma:format="" ma:internalName="itemURL" ma:readOnly="false">
      <xsd:simpleType>
        <xsd:restriction base="dms:Text"/>
      </xsd:simpleType>
    </xsd:element>
    <xsd:element name="handle" ma:index="16" nillable="true" ma:displayName="Handle" ma:description="" ma:format="" ma:internalName="handle" ma:readOnly="false">
      <xsd:simpleType>
        <xsd:restriction base="dms:Text"/>
      </xsd:simpleType>
    </xsd:element>
    <xsd:element name="handleNum" ma:index="17" nillable="true" ma:displayName="Handle Number" ma:description="" ma:format="" ma:internalName="handleNum" ma:readOnly="false">
      <xsd:simpleType>
        <xsd:restriction base="dms:Text"/>
      </xsd:simpleType>
    </xsd:element>
    <xsd:element name="versionHandleNum" ma:index="18" nillable="true" ma:displayName="Version Handle Number" ma:description="" ma:format="" ma:internalName="versionHandleNum" ma:readOnly="false">
      <xsd:simpleType>
        <xsd:restriction base="dms:Text"/>
      </xsd:simpleType>
    </xsd:element>
    <xsd:element name="type" ma:index="19" nillable="true" ma:displayName="Type" ma:description="" ma:format="" ma:internalName="type" ma:readOnly="false">
      <xsd:simpleType>
        <xsd:union memberTypes="dms:Text">
          <xsd:simpleType>
            <xsd:restriction base="dms:Choice">
              <xsd:enumeration value="MailMessage"/>
              <xsd:enumeration value="Weblog"/>
              <xsd:enumeration value="Calendar"/>
              <xsd:enumeration value="WikiPage"/>
              <xsd:enumeration value="Document"/>
              <xsd:enumeration value="URL"/>
              <xsd:enumeration value="Discussion"/>
              <xsd:enumeration value="Topic"/>
              <xsd:enumeration value="Weblog Entry"/>
              <xsd:enumeration value="Collection"/>
              <xsd:enumeration value="Event"/>
              <xsd:enumeration value="Wiki"/>
              <xsd:enumeration value="Workspace"/>
              <xsd:enumeration value="Server"/>
            </xsd:restriction>
          </xsd:simpleType>
        </xsd:union>
      </xsd:simpleType>
    </xsd:element>
    <xsd:element name="typeNum" ma:index="20" nillable="true" ma:displayName="TypeNum" ma:decimals="0" ma:description="" ma:format="" ma:internalName="typeNum" ma:readOnly="false">
      <xsd:simpleType>
        <xsd:restriction base="dms:Number"/>
      </xsd:simpleType>
    </xsd:element>
    <xsd:element name="baseType" ma:index="21" nillable="true" ma:displayName="BaseType" ma:description="" ma:format="" ma:internalName="baseType" ma:readOnly="false">
      <xsd:simpleType>
        <xsd:union memberTypes="dms:Text">
          <xsd:simpleType>
            <xsd:restriction base="dms:Choice">
              <xsd:enumeration value="MailMessage"/>
              <xsd:enumeration value="Weblog"/>
              <xsd:enumeration value="Calendar"/>
              <xsd:enumeration value="WikiPage"/>
              <xsd:enumeration value="Document"/>
              <xsd:enumeration value="URL"/>
              <xsd:enumeration value="Discussion"/>
              <xsd:enumeration value="Topic"/>
              <xsd:enumeration value="Weblog Entry"/>
              <xsd:enumeration value="Collection"/>
              <xsd:enumeration value="Event"/>
              <xsd:enumeration value="Wiki"/>
              <xsd:enumeration value="Workspace"/>
              <xsd:enumeration value="Server"/>
              <xsd:enumeration value="File"/>
            </xsd:restriction>
          </xsd:simpleType>
        </xsd:union>
      </xsd:simpleType>
    </xsd:element>
    <xsd:element name="baseTypeNum" ma:index="22" nillable="true" ma:displayName="BaseTypeNum" ma:decimals="0" ma:description="" ma:format="" ma:internalName="baseTypeNum" ma:readOnly="false">
      <xsd:simpleType>
        <xsd:restriction base="dms:Number"/>
      </xsd:simpleType>
    </xsd:element>
    <xsd:element name="rootType" ma:index="23" nillable="true" ma:displayName="RootType" ma:description="" ma:format="" ma:internalName="rootType" ma:readOnly="false">
      <xsd:simpleType>
        <xsd:union memberTypes="dms:Text">
          <xsd:simpleType>
            <xsd:restriction base="dms:Choice">
              <xsd:enumeration value="MailMessage"/>
              <xsd:enumeration value="Weblog"/>
              <xsd:enumeration value="Calendar"/>
              <xsd:enumeration value="WikiPage"/>
              <xsd:enumeration value="Document"/>
              <xsd:enumeration value="URL"/>
              <xsd:enumeration value="Discussion"/>
              <xsd:enumeration value="Topic"/>
              <xsd:enumeration value="Weblog Entry"/>
              <xsd:enumeration value="Collection"/>
              <xsd:enumeration value="Event"/>
              <xsd:enumeration value="Wiki"/>
              <xsd:enumeration value="Workspace"/>
              <xsd:enumeration value="Server"/>
              <xsd:enumeration value="File"/>
            </xsd:restriction>
          </xsd:simpleType>
        </xsd:union>
      </xsd:simpleType>
    </xsd:element>
    <xsd:element name="rootTypeNum" ma:index="24" nillable="true" ma:displayName="RootTypeNum" ma:decimals="0" ma:description="" ma:format="" ma:internalName="rootTypeNum" ma:readOnly="false">
      <xsd:simpleType>
        <xsd:restriction base="dms:Number"/>
      </xsd:simpleType>
    </xsd:element>
    <xsd:element name="fileName" ma:index="25" nillable="true" ma:displayName="File Name" ma:description="" ma:format="" ma:internalName="fileName" ma:readOnly="false">
      <xsd:simpleType>
        <xsd:restriction base="dms:Text"/>
      </xsd:simpleType>
    </xsd:element>
    <xsd:element name="isPreferred" ma:index="26" nillable="true" ma:displayName="IsPreferred" ma:description="" ma:format="" ma:internalName="isPreferred" ma:readOnly="false">
      <xsd:simpleType>
        <xsd:restriction base="dms:Boolean"/>
      </xsd:simpleType>
    </xsd:element>
    <xsd:element name="maximumVersionsProperty" ma:index="27" nillable="true" ma:displayName="Maximum Versions Property" ma:decimals="0" ma:description="" ma:format="" ma:internalName="maximumVersionsProperty" ma:readOnly="false">
      <xsd:simpleType>
        <xsd:restriction base="dms:Number"/>
      </xsd:simpleType>
    </xsd:element>
    <xsd:element name="isDeclareReady" ma:index="28" nillable="true" ma:displayName="Ready for Declare" ma:description="" ma:format="" ma:internalName="isDeclareReady" ma:readOnly="false">
      <xsd:simpleType>
        <xsd:restriction base="dms:Boolean"/>
      </xsd:simpleType>
    </xsd:element>
    <xsd:element name="lockedBy" ma:index="29" nillable="true" ma:displayName="Locked By" ma:description="" ma:format="" ma:list="UserInfo" ma:internalName="lockedBy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sRecord" ma:index="30" nillable="true" ma:displayName="IsRecord" ma:description="" ma:format="" ma:internalName="isRecord" ma:readOnly="false">
      <xsd:simpleType>
        <xsd:restriction base="dms:Boolean"/>
      </xsd:simpleType>
    </xsd:element>
    <xsd:element name="versionUrl" ma:index="31" nillable="true" ma:displayName="VersionUrl" ma:description="" ma:format="" ma:internalName="version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displayname" ma:index="32" nillable="true" ma:displayName="Display Name" ma:description="" ma:format="" ma:internalName="displayname" ma:readOnly="false">
      <xsd:simpleType>
        <xsd:restriction base="dms:Text"/>
      </xsd:simpleType>
    </xsd:element>
    <xsd:element name="tztdxfolderpath" ma:index="33" nillable="true" ma:displayName="TDX Folder Path" ma:description="" ma:format="" ma:internalName="tztdxfolderpath" ma:readOnly="false">
      <xsd:simpleType>
        <xsd:restriction base="dms:Note"/>
      </xsd:simpleType>
    </xsd:element>
    <xsd:element name="author_x0028_1_x0029_" ma:index="34" nillable="true" ma:displayName="author(1)" ma:description="" ma:format="" ma:internalName="author_x0028_1_x0029_" ma:readOnly="false">
      <xsd:simpleType>
        <xsd:restriction base="dms:Text"/>
      </xsd:simpleType>
    </xsd:element>
    <xsd:element name="_x007b_101A19A5-63B6-495e-B3A3-98C73E269219_x007d_" ma:index="35" nillable="true" ma:displayName="Property Set" ma:description="The property set used for the item" ma:format="" ma:internalName="_x007b_101A19A5_x002d_63B6_x002d_495e_x002d_B3A3_x002d_98C73E269219_x007d_" ma:readOnly="false">
      <xsd:simpleType>
        <xsd:restriction base="dms:Text"/>
      </xsd:simpleType>
    </xsd:element>
    <xsd:element name="attachmentsOnly" ma:index="36" nillable="true" ma:displayName="Attachments Only" ma:description="" ma:format="" ma:internalName="attachmentsOnly" ma:readOnly="false">
      <xsd:simpleType>
        <xsd:restriction base="dms:Boolean"/>
      </xsd:simpleType>
    </xsd:element>
    <xsd:element name="url_1" ma:index="37" nillable="true" ma:displayName="URL" ma:description="" ma:format="" ma:internalName="url_1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bstract" ma:index="46" nillable="true" ma:displayName="Abstract" ma:description="" ma:format="" ma:internalName="abstract" ma:readOnly="false">
      <xsd:simpleType>
        <xsd:restriction base="dms:Note"/>
      </xsd:simpleType>
    </xsd:element>
    <xsd:element name="TaxCatchAll" ma:index="50" nillable="true" ma:displayName="Taxonomy Catch All Column" ma:hidden="true" ma:list="{c4aa8085-f4fe-458c-8c53-59303a63aa42}" ma:internalName="TaxCatchAll" ma:showField="CatchAllData" ma:web="69827baf-44c8-4d6e-8fca-09c541b722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xpirationDate" ma:index="52" nillable="true" ma:displayName="Expiration Date" ma:description="" ma:format="DateTime" ma:internalName="expirationDate" ma:readOnly="false">
      <xsd:simpleType>
        <xsd:restriction base="dms:DateTime"/>
      </xsd:simpleType>
    </xsd:element>
    <xsd:element name="wikiField" ma:index="53" nillable="true" ma:displayName="WikiField" ma:description="" ma:format="" ma:internalName="wikiField" ma:readOnly="fals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8d780-103f-437e-a7af-e5a57fb716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3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4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4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4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4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4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4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47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49" nillable="true" ma:taxonomy="true" ma:internalName="lcf76f155ced4ddcb4097134ff3c332f" ma:taxonomyFieldName="MediaServiceImageTags" ma:displayName="Image Tags" ma:readOnly="false" ma:fieldId="{5cf76f15-5ced-4ddc-b409-7134ff3c332f}" ma:taxonomyMulti="true" ma:sspId="2157e37e-ac80-4b68-b86f-af0b3e9816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5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4170C6-AC1D-417B-A196-6CEC59E59973}">
  <ds:schemaRefs>
    <ds:schemaRef ds:uri="http://schemas.microsoft.com/office/2006/metadata/properties"/>
    <ds:schemaRef ds:uri="http://schemas.microsoft.com/office/infopath/2007/PartnerControls"/>
    <ds:schemaRef ds:uri="69827baf-44c8-4d6e-8fca-09c541b72215"/>
    <ds:schemaRef ds:uri="01a8d780-103f-437e-a7af-e5a57fb7162e"/>
  </ds:schemaRefs>
</ds:datastoreItem>
</file>

<file path=customXml/itemProps2.xml><?xml version="1.0" encoding="utf-8"?>
<ds:datastoreItem xmlns:ds="http://schemas.openxmlformats.org/officeDocument/2006/customXml" ds:itemID="{62E8D094-3EBF-4478-9139-A5245424B6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93A322-C9A6-4A1D-BB6E-BBA6E3A173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827baf-44c8-4d6e-8fca-09c541b72215"/>
    <ds:schemaRef ds:uri="01a8d780-103f-437e-a7af-e5a57fb716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BRND_Corporate Presentation Template_16x9_030921</Template>
  <TotalTime>6024</TotalTime>
  <Words>6671</Words>
  <Application>Microsoft Office PowerPoint</Application>
  <PresentationFormat>Widescreen</PresentationFormat>
  <Paragraphs>612</Paragraphs>
  <Slides>42</Slides>
  <Notes>0</Notes>
  <HiddenSlides>4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Iridium Light Theme 2021</vt:lpstr>
      <vt:lpstr>Iridium Dark Theme 2021</vt:lpstr>
      <vt:lpstr>Product Engineering                       JIRA Ticket Management   Overview and Training</vt:lpstr>
      <vt:lpstr>Scope // Background</vt:lpstr>
      <vt:lpstr>Contents // Look-Ahead</vt:lpstr>
      <vt:lpstr>Raising Tickets // General Advice</vt:lpstr>
      <vt:lpstr>Raising Tickets // Defining Key Terms</vt:lpstr>
      <vt:lpstr>Raising Tickets // Summary Field</vt:lpstr>
      <vt:lpstr>Raising Tickets // Description Field (1/6)</vt:lpstr>
      <vt:lpstr>Raising Tickets // Description Field (2/6)</vt:lpstr>
      <vt:lpstr>Raising Tickets // Description Field (3/6)</vt:lpstr>
      <vt:lpstr>Raising Tickets // Description Field (4/6)</vt:lpstr>
      <vt:lpstr>Raising Tickets // Description Field (5/6)</vt:lpstr>
      <vt:lpstr>Raising Tickets // Description Field (6/6)</vt:lpstr>
      <vt:lpstr>Definition of Done Example</vt:lpstr>
      <vt:lpstr>Raising Tickets // Imperative Mood (Advanced Topic)</vt:lpstr>
      <vt:lpstr>Our Journey to Enlightenment</vt:lpstr>
      <vt:lpstr>Ticket Comment Threads (1/3)</vt:lpstr>
      <vt:lpstr>Ticket Comment Threads (2/3)</vt:lpstr>
      <vt:lpstr>Ticket Comment Threads (3/3)</vt:lpstr>
      <vt:lpstr>Ticket Grand Finale // the TL;DR</vt:lpstr>
      <vt:lpstr>Anatomy of a Solid TL;DR</vt:lpstr>
      <vt:lpstr>Ticket Workflow (1/4)</vt:lpstr>
      <vt:lpstr>Ticket Workflow (2/4)</vt:lpstr>
      <vt:lpstr>Ticket Workflow (3/4)</vt:lpstr>
      <vt:lpstr>Ticket Workflow (4/4)</vt:lpstr>
      <vt:lpstr>Closing Tickets // Transitioning</vt:lpstr>
      <vt:lpstr>The Kanban Board</vt:lpstr>
      <vt:lpstr>Our Journey to Enlightenment</vt:lpstr>
      <vt:lpstr>Priority Focus // The Backlog</vt:lpstr>
      <vt:lpstr>Grooming the Backlog</vt:lpstr>
      <vt:lpstr>Triage and Backlog Etiquette</vt:lpstr>
      <vt:lpstr>In Case of Fire Break Glass: Skipping the Backlog (1/2)</vt:lpstr>
      <vt:lpstr>In Case of Fire Break Glass: Skipping the Backlog (2/2)</vt:lpstr>
      <vt:lpstr>Purging the Board</vt:lpstr>
      <vt:lpstr>Working an Issue as an Individual Contributor</vt:lpstr>
      <vt:lpstr>Straightest Path to Awesome is … Branching</vt:lpstr>
      <vt:lpstr>Quality Assurance == Peer Reviews for the Win</vt:lpstr>
      <vt:lpstr>Miscellaneous Topic: Sub-Issues</vt:lpstr>
      <vt:lpstr>Closing with Confidence // Ticket Miscellany</vt:lpstr>
      <vt:lpstr>Recap and Open Q/A</vt:lpstr>
      <vt:lpstr>PowerPoint Presentation</vt:lpstr>
      <vt:lpstr>Change History</vt:lpstr>
      <vt:lpstr>Change History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IRDM-0910-SD-001 v1.7 - Product Engineering JIRA Ticket Management Overview and Training.pptx</dc:title>
  <dc:creator>Garrett Chandler</dc:creator>
  <cp:lastModifiedBy>Garrett Chandler</cp:lastModifiedBy>
  <cp:revision>87</cp:revision>
  <dcterms:created xsi:type="dcterms:W3CDTF">2021-04-02T14:26:10Z</dcterms:created>
  <dcterms:modified xsi:type="dcterms:W3CDTF">2026-06-12T15:27:40Z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0x010100007601908D097B40997BD1420F650EE7</vt:lpwstr>
  </property>
  <property fmtid="{D5CDD505-2E9C-101B-9397-08002B2CF9AE}" pid="3" name="Order">
    <vt:r8>100</vt:r8>
  </property>
  <property fmtid="{D5CDD505-2E9C-101B-9397-08002B2CF9AE}" pid="4" name="D996E646-5C05-45b7-B24A-9AFAF5B21503">
    <vt:lpwstr>IRDM-0910-SD-001 v1.7 - Product Engineering JIRA Ticket Management Overview and Training.pptx</vt:lpwstr>
  </property>
  <property fmtid="{D5CDD505-2E9C-101B-9397-08002B2CF9AE}" pid="5" name="Created Date">
    <vt:lpwstr>2022-09-26T16:13:14</vt:lpwstr>
  </property>
  <property fmtid="{D5CDD505-2E9C-101B-9397-08002B2CF9AE}" pid="6" name="{DFC8691F-2432-4741-B780-3CAE3235A612}">
    <vt:lpwstr>&lt;?xml version="1.0" encoding="utf-16"?&gt;&lt;XmlFileSourceXmlGenerator xmlns:xsd="http://www.w3.org/2001/XMLSchema" xmlns:xsi="http://www.w3.org/2001/XMLSchema-instance"&gt;&lt;SourceInfoStoreType&gt;DocuShare&lt;/SourceInfoStoreType&gt;&lt;Url&gt;D:/Exports/Sub Eqpt 0-5048/DocuShare Data/FileStore/0225 Gateway and Mobile Product Development Dept Admin/Documents/IRDM-0910-SD-001 v1.7 - Product Engineering JIRA Ticket Management Overview and Training.pptx&lt;/Url&gt;&lt;UrlForOpen&gt;D:/Exports/Sub Eqpt 0-5048/DocuShare Data/FileStore/0225 Gateway and Mobile Product Development Dept Admin/Documents/IRDM-0910-SD-001 v1.7 - Product Engineering JIRA Ticket Management Overview and Training-V1.pptx&lt;/UrlForOpen&gt;&lt;Uid&gt;File-579202/1&lt;/Uid&gt;&lt;SourceUid&gt;https://docushare.iridium.com/docushare/dscgi/ds.py/Get/File-579202/IRDM-0910-SD-001 v1.7 - Product Engineering JIRA Ticket Management Overview and Training.pptx&lt;/SourceUid&gt;&lt;/XmlFileSourceXmlGenerator&gt;</vt:lpwstr>
  </property>
</Properties>
</file>