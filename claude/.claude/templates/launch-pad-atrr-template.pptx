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1" r:id="rId5"/>
    <p:sldId id="270" r:id="rId6"/>
    <p:sldId id="283" r:id="rId7"/>
    <p:sldId id="285" r:id="rId8"/>
    <p:sldId id="298" r:id="rId9"/>
    <p:sldId id="296" r:id="rId10"/>
    <p:sldId id="297" r:id="rId11"/>
    <p:sldId id="294" r:id="rId12"/>
    <p:sldId id="29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812A64-8292-48C4-A3AD-7342B86F2B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6F274-117B-4CA5-B63B-6DDB5F8426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BF2F2-5470-4149-8B69-AE6416E98BD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A4110-F59A-4394-9032-7E8B8D2C5B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3D865-9CB0-40B6-A0A1-6B204F38CF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DDAC-AAA1-4527-BDF7-50678DB60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6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8D145-8FC5-4C39-95E0-93F80B8665D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7C644-904A-4E01-AC22-87948D00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9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C644-904A-4E01-AC22-87948D0013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1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[Proceed to RARGR | Abort | Retest]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C644-904A-4E01-AC22-87948D0013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68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C38EAF1-E91D-4784-858A-2F2FDCF4020B}"/>
              </a:ext>
            </a:extLst>
          </p:cNvPr>
          <p:cNvSpPr/>
          <p:nvPr userDrawn="1"/>
        </p:nvSpPr>
        <p:spPr>
          <a:xfrm>
            <a:off x="5941241" y="4679788"/>
            <a:ext cx="6250759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3F602E8-F84C-47B9-B772-E548E5FE4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1"/>
          <a:stretch/>
        </p:blipFill>
        <p:spPr>
          <a:xfrm>
            <a:off x="0" y="258262"/>
            <a:ext cx="4987181" cy="6273115"/>
          </a:xfrm>
          <a:prstGeom prst="rect">
            <a:avLst/>
          </a:prstGeom>
        </p:spPr>
      </p:pic>
      <p:sp>
        <p:nvSpPr>
          <p:cNvPr id="23" name="Subtitle 2">
            <a:extLst>
              <a:ext uri="{FF2B5EF4-FFF2-40B4-BE49-F238E27FC236}">
                <a16:creationId xmlns:a16="http://schemas.microsoft.com/office/drawing/2014/main" id="{EEC2EB9E-CC6E-4866-A3D5-88CC948B8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1239" y="4816086"/>
            <a:ext cx="5972087" cy="53927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B551504A-AEE6-4C20-A9E5-4FC6B3B89F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42739" y="3369845"/>
            <a:ext cx="5970587" cy="1143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0"/>
            <a:r>
              <a:rPr lang="en-US"/>
              <a:t>PPT TITLE</a:t>
            </a:r>
          </a:p>
        </p:txBody>
      </p:sp>
    </p:spTree>
    <p:extLst>
      <p:ext uri="{BB962C8B-B14F-4D97-AF65-F5344CB8AC3E}">
        <p14:creationId xmlns:p14="http://schemas.microsoft.com/office/powerpoint/2010/main" val="257158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6AFD-12F0-4BE3-A536-1B5D2D14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878" y="6385582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0C5CB0-FD3D-4E9B-9F15-108465A3D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1871"/>
            <a:ext cx="10515601" cy="4585210"/>
          </a:xfrm>
        </p:spPr>
        <p:txBody>
          <a:bodyPr/>
          <a:lstStyle>
            <a:lvl1pPr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buFont typeface="Arial" panose="020B0604020202020204" pitchFamily="34" charset="0"/>
              <a:buChar char="−"/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DC8385-A249-4E13-81CF-EB20390592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/>
          <a:stretch/>
        </p:blipFill>
        <p:spPr>
          <a:xfrm>
            <a:off x="0" y="207544"/>
            <a:ext cx="781049" cy="10543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CE34F2-2DB3-4E7F-AA43-FF7C88A7274F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D1D13AB1-F94D-42D1-B1AD-EC5BEE6688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436223"/>
            <a:ext cx="10515600" cy="644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1325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55F5C-05ED-4A2F-8349-DA8E7F08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878" y="6380502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A1D4A4-055D-4C0E-86B5-903169ECC435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6339EACE-2216-4652-9246-1B9377067F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436223"/>
            <a:ext cx="10515600" cy="644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B5907E7-1BC1-468C-B832-AA72DBC1F5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1330326"/>
            <a:ext cx="5157787" cy="5528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FCB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7AA8C66-CB32-4720-B64D-3DF4BEFF5AC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262" y="1330326"/>
            <a:ext cx="5183188" cy="5528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FCB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CF8597-247D-46FA-B274-9E5EC239EE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/>
          <a:stretch/>
        </p:blipFill>
        <p:spPr>
          <a:xfrm>
            <a:off x="0" y="207544"/>
            <a:ext cx="781049" cy="1054327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F89C164-AFA5-4302-AA5F-116BF634647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6449" y="2068497"/>
            <a:ext cx="5183188" cy="3815836"/>
          </a:xfrm>
        </p:spPr>
        <p:txBody>
          <a:bodyPr/>
          <a:lstStyle>
            <a:lvl1pPr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buFont typeface="Arial" panose="020B0604020202020204" pitchFamily="34" charset="0"/>
              <a:buChar char="−"/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881B13E-7A01-4B59-878B-00DEE68B76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4262" y="2068497"/>
            <a:ext cx="5183188" cy="3815836"/>
          </a:xfrm>
        </p:spPr>
        <p:txBody>
          <a:bodyPr/>
          <a:lstStyle>
            <a:lvl1pPr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buFont typeface="Arial" panose="020B0604020202020204" pitchFamily="34" charset="0"/>
              <a:buChar char="−"/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69764-A4D4-4D90-9837-5E32C958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783" y="6380502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DB9A7-8DA8-44B2-A6AE-A8BD8D211017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78A884-745E-4E70-90E1-D2AA39473D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/>
          <a:stretch/>
        </p:blipFill>
        <p:spPr>
          <a:xfrm>
            <a:off x="0" y="207544"/>
            <a:ext cx="781049" cy="1054327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E136444-FD39-4AA4-BB72-AE5F2F121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436223"/>
            <a:ext cx="10515600" cy="644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98752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74D46-1121-4AAB-9921-7B0A62EC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878" y="6382803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2077AD3-4553-49EF-AE50-DC2652EBF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1644"/>
            <a:ext cx="3932237" cy="36673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A3B85B-21C8-4FD0-8C02-7C2CC92F8D78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84A608-0A8A-4A28-8631-85DFC44AD1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/>
          <a:stretch/>
        </p:blipFill>
        <p:spPr>
          <a:xfrm>
            <a:off x="0" y="207544"/>
            <a:ext cx="781049" cy="1054327"/>
          </a:xfrm>
          <a:prstGeom prst="rect">
            <a:avLst/>
          </a:prstGeom>
        </p:spPr>
      </p:pic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5DA8289-B275-4CF3-892F-56148AD815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445101"/>
            <a:ext cx="3932237" cy="16122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EC796EF-06AD-4A75-AC8E-91360951B7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80012" y="450185"/>
            <a:ext cx="6172200" cy="5423887"/>
          </a:xfrm>
        </p:spPr>
        <p:txBody>
          <a:bodyPr/>
          <a:lstStyle>
            <a:lvl1pPr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buFont typeface="Arial" panose="020B0604020202020204" pitchFamily="34" charset="0"/>
              <a:buChar char="−"/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960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A944B-DC09-413E-ADA6-A614A06B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177" y="6380502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EBA5C2-4EEF-442A-A4D1-B083E4245EF5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F04262-6D31-4FE5-A0E6-BE5FB2B99A70}"/>
              </a:ext>
            </a:extLst>
          </p:cNvPr>
          <p:cNvSpPr/>
          <p:nvPr userDrawn="1"/>
        </p:nvSpPr>
        <p:spPr>
          <a:xfrm>
            <a:off x="0" y="0"/>
            <a:ext cx="4500979" cy="6051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E74F2D6-6057-48D5-8B85-3270FB306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9" y="1269251"/>
            <a:ext cx="3662779" cy="31784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pic>
        <p:nvPicPr>
          <p:cNvPr id="11" name="Picture 10" descr="A black and white pattern&#10;&#10;Description automatically generated with low confidence">
            <a:extLst>
              <a:ext uri="{FF2B5EF4-FFF2-40B4-BE49-F238E27FC236}">
                <a16:creationId xmlns:a16="http://schemas.microsoft.com/office/drawing/2014/main" id="{ADC7B190-4BE9-41AB-B860-65E39203A1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8" t="35824"/>
          <a:stretch/>
        </p:blipFill>
        <p:spPr>
          <a:xfrm>
            <a:off x="4500977" y="-2"/>
            <a:ext cx="6205493" cy="558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21A98-F3CC-465C-9403-307E88A0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878" y="6380502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19680-653A-4439-A5BA-72D164797E65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4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/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21A98-F3CC-465C-9403-307E88A0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878" y="6382534"/>
            <a:ext cx="4114800" cy="365125"/>
          </a:xfrm>
        </p:spPr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19680-653A-4439-A5BA-72D164797E65}"/>
              </a:ext>
            </a:extLst>
          </p:cNvPr>
          <p:cNvSpPr/>
          <p:nvPr userDrawn="1"/>
        </p:nvSpPr>
        <p:spPr>
          <a:xfrm>
            <a:off x="0" y="6005294"/>
            <a:ext cx="12192000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7A8C1A-3560-410A-B1F2-9DF8DAB87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4" t="47424"/>
          <a:stretch/>
        </p:blipFill>
        <p:spPr>
          <a:xfrm>
            <a:off x="1026303" y="-5080"/>
            <a:ext cx="9697023" cy="50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4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F16AF-250E-42FA-8B0B-45D62482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2DFD-1DE0-45D9-A60C-862D14DCC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E7F2C-D7F8-4184-82BF-C7CDC09CC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81C2B5B-9B4D-4E78-92D0-93572613BEA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450" y="6232105"/>
            <a:ext cx="2032417" cy="4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13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7" r:id="rId5"/>
    <p:sldLayoutId id="2147483656" r:id="rId6"/>
    <p:sldLayoutId id="2147483655" r:id="rId7"/>
    <p:sldLayoutId id="214748366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rdm.sharepoint.com/:p:/r/sites/MobileProductEngineering/_layouts/15/Doc.aspx?sourcedoc=%7B80319F61-BFD9-4AD8-AAE5-0220131549C4%7D&amp;file=IRDM-1023-PRO-001%20v2.3%20-%20Release%20Candidate%20Testing%20and%20Rollout%20Process.pptx&amp;action=edit&amp;mobileredirect=tru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rdm.sharepoint.com/:u:/r/sites/MobileProductEngineering/Shared%20Documents/5202%20IOT%20SFX/Integrator%20Development%20Kit/Releases/Launch-Pad-IDKs-1.2.4-260421-7E4D9D19/9604-SDK-1.2.4-260421-7E4D9D19.zip?csf=1&amp;web=1&amp;e=Z8r89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rdm.sharepoint.com/:b:/r/sites/MobileProductEngineering/Shared%20Documents/5202%20IOT%20SFX/Integrator%20Development%20Kit/Releases/Launch-Pad-IDKs-2.0.0-260521-6852CDF7/Launch-Pad-IDKs-2.0.0-260521-6852CDF7-ESVD%20-%20Launch%20Pad%20Family%20of%20Integrator%20Development%20Kits%20Engineering%20Software%20Version%20Description.pdf?csf=1&amp;web=1&amp;e=uabfWI" TargetMode="External"/><Relationship Id="rId7" Type="http://schemas.openxmlformats.org/officeDocument/2006/relationships/hyperlink" Target="https://jira.iridium.com/secure/attachment/277616/Launch-Pad-SDK-v2.0.0-Test-Report.pdf" TargetMode="External"/><Relationship Id="rId2" Type="http://schemas.openxmlformats.org/officeDocument/2006/relationships/hyperlink" Target="https://jira.iridium.com/projects/IDK/versions/2284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iridium.com/browse/IDK-1436" TargetMode="External"/><Relationship Id="rId5" Type="http://schemas.openxmlformats.org/officeDocument/2006/relationships/hyperlink" Target="https://jira.iridium.com/browse/IDK-1477" TargetMode="External"/><Relationship Id="rId4" Type="http://schemas.openxmlformats.org/officeDocument/2006/relationships/hyperlink" Target="https://irdm.sharepoint.com/:b:/r/sites/MobileProductEngineering/Shared%20Documents/5202%20IOT%20SFX/Integrator%20Development%20Kit/Releases/Launch-Pad-IDKs-1.2.4-260421-7E4D9D19/Launch-Pad-IDKs-1.2.4-260421-7E4D9D19-ESVD%20-%20Launch%20Pad%20Family%20of%20Integrator%20Development%20Kits%20Engineering%20Software%20Version%20Description.pdf?csf=1&amp;web=1&amp;e=20S0d0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97FDDF-B6A5-49F4-952C-823C35EB6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1239" y="4816086"/>
            <a:ext cx="5972087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cap="all">
                <a:latin typeface="Arial"/>
                <a:cs typeface="Arial"/>
              </a:rPr>
              <a:t>Alex Lehman // MAY 26</a:t>
            </a:r>
          </a:p>
          <a:p>
            <a:r>
              <a:rPr lang="en-US" sz="1500" cap="all">
                <a:latin typeface="Arial"/>
                <a:cs typeface="Arial"/>
              </a:rPr>
              <a:t>PER ATRR TEMPLATE IRDM-1023-PRO-007</a:t>
            </a:r>
            <a:r>
              <a:rPr lang="en-US" sz="1500">
                <a:latin typeface="Arial"/>
                <a:cs typeface="Arial"/>
              </a:rPr>
              <a:t> </a:t>
            </a:r>
            <a:r>
              <a:rPr lang="en-US" sz="1500" cap="none">
                <a:latin typeface="Arial"/>
                <a:cs typeface="Arial"/>
              </a:rPr>
              <a:t>v2</a:t>
            </a:r>
            <a:r>
              <a:rPr lang="en-US" sz="1500">
                <a:latin typeface="Arial"/>
                <a:cs typeface="Arial"/>
              </a:rPr>
              <a:t>.4</a:t>
            </a:r>
          </a:p>
          <a:p>
            <a:endParaRPr lang="en-US" sz="1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40761-7F78-43B0-886E-F8602FC52A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1432" y="2523744"/>
            <a:ext cx="6721895" cy="1989101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2400">
                <a:latin typeface="Arial"/>
                <a:cs typeface="Arial"/>
              </a:rPr>
              <a:t>Acceptance Test Results Review</a:t>
            </a:r>
            <a:endParaRPr lang="en-US" sz="2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latin typeface="Arial"/>
                <a:cs typeface="Arial"/>
              </a:rPr>
              <a:t>Launch-Pad-IDKs-2.0.0-260521-6852CDF7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latin typeface="Arial"/>
                <a:cs typeface="Arial"/>
              </a:rPr>
              <a:t>  Release Candidate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3607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842585-C235-4BC0-B357-8901106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2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80C7-13AE-43B8-B7FB-05395B28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1871"/>
            <a:ext cx="10515601" cy="4760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400" dirty="0"/>
              <a:t>Required Attendees</a:t>
            </a:r>
          </a:p>
          <a:p>
            <a:pPr lvl="1">
              <a:spcBef>
                <a:spcPts val="300"/>
              </a:spcBef>
            </a:pPr>
            <a:r>
              <a:rPr lang="en-US" sz="1800" dirty="0"/>
              <a:t>Managing Product Owner:</a:t>
            </a:r>
            <a:r>
              <a:rPr lang="en-US" sz="1800" b="1" dirty="0"/>
              <a:t> Juan Alvarez</a:t>
            </a:r>
            <a:endParaRPr lang="en-US" sz="1800" b="1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Technical Product Owner:</a:t>
            </a:r>
            <a:r>
              <a:rPr lang="en-US" sz="1800" b="1" dirty="0"/>
              <a:t>  Mark Spinnenweber</a:t>
            </a:r>
            <a:endParaRPr lang="en-US" sz="1800" b="1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Acceptance Test Manager:</a:t>
            </a:r>
            <a:r>
              <a:rPr lang="en-US" sz="1800" b="1" dirty="0"/>
              <a:t> Alex Lehman</a:t>
            </a:r>
            <a:endParaRPr lang="en-US" sz="1800" b="1" dirty="0">
              <a:cs typeface="Arial"/>
            </a:endParaRPr>
          </a:p>
          <a:p>
            <a:pPr marL="457200" lvl="1" indent="0">
              <a:spcBef>
                <a:spcPts val="300"/>
              </a:spcBef>
              <a:buNone/>
            </a:pPr>
            <a:endParaRPr lang="en-US" sz="1700" b="1" dirty="0">
              <a:cs typeface="Arial"/>
            </a:endParaRPr>
          </a:p>
          <a:p>
            <a:pPr>
              <a:spcBef>
                <a:spcPts val="300"/>
              </a:spcBef>
            </a:pPr>
            <a:r>
              <a:rPr lang="en-US" sz="2400" dirty="0"/>
              <a:t>Optional Attendees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Other: </a:t>
            </a:r>
            <a:r>
              <a:rPr lang="en-US" sz="1800" b="1" dirty="0"/>
              <a:t>Michelle Houchins, Doug Mattingly</a:t>
            </a:r>
            <a:endParaRPr lang="en-US" sz="1800" b="1" dirty="0">
              <a:cs typeface="Arial"/>
            </a:endParaRPr>
          </a:p>
          <a:p>
            <a:pPr marL="457200" lvl="1" indent="0">
              <a:spcBef>
                <a:spcPts val="300"/>
              </a:spcBef>
            </a:pPr>
            <a:endParaRPr lang="en-US" sz="1400" b="1" dirty="0"/>
          </a:p>
          <a:p>
            <a:pPr>
              <a:spcBef>
                <a:spcPts val="300"/>
              </a:spcBef>
            </a:pPr>
            <a:r>
              <a:rPr lang="en-US" sz="2400" dirty="0"/>
              <a:t>Governing Process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Milestone event as prescribed in the Release Candidate Testing and Rollout Process</a:t>
            </a:r>
            <a:endParaRPr lang="en-US" sz="18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Documented in </a:t>
            </a:r>
            <a:r>
              <a:rPr lang="en-US" sz="1800" dirty="0">
                <a:hlinkClick r:id="rId2"/>
              </a:rPr>
              <a:t>IRDM-1023-PRO-001 - Release Candidate Testing and Rollout Process</a:t>
            </a:r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37457-819B-4AF7-B60C-3969143B9F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788" y="418468"/>
            <a:ext cx="10515600" cy="64452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b="1"/>
              <a:t>Attendance Record</a:t>
            </a:r>
          </a:p>
        </p:txBody>
      </p:sp>
    </p:spTree>
    <p:extLst>
      <p:ext uri="{BB962C8B-B14F-4D97-AF65-F5344CB8AC3E}">
        <p14:creationId xmlns:p14="http://schemas.microsoft.com/office/powerpoint/2010/main" val="628922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842585-C235-4BC0-B357-8901106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3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80C7-13AE-43B8-B7FB-05395B28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055" y="1271015"/>
            <a:ext cx="10515601" cy="458521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spcBef>
                <a:spcPts val="300"/>
              </a:spcBef>
            </a:pPr>
            <a:r>
              <a:rPr lang="en-US" sz="2300" dirty="0"/>
              <a:t>Report Scope</a:t>
            </a:r>
          </a:p>
          <a:p>
            <a:pPr lvl="1">
              <a:spcBef>
                <a:spcPts val="300"/>
              </a:spcBef>
            </a:pPr>
            <a:r>
              <a:rPr lang="en-US" sz="1900" dirty="0"/>
              <a:t>This testing covers all changes for the 9604 SDK and the 9704 SDK v2.0.0.</a:t>
            </a:r>
            <a:endParaRPr lang="en-US" sz="1900" dirty="0">
              <a:cs typeface="Arial"/>
            </a:endParaRPr>
          </a:p>
          <a:p>
            <a:pPr>
              <a:spcBef>
                <a:spcPts val="300"/>
              </a:spcBef>
            </a:pPr>
            <a:r>
              <a:rPr lang="en-US" sz="2400" dirty="0"/>
              <a:t>Test Artifact Record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900" dirty="0"/>
              <a:t>Software Tested</a:t>
            </a:r>
            <a:r>
              <a:rPr lang="en-US" sz="1900" b="1" dirty="0">
                <a:ea typeface="+mn-lt"/>
                <a:cs typeface="+mn-lt"/>
                <a:hlinkClick r:id="rId2"/>
              </a:rPr>
              <a:t> 9604-SDK-2.0.0-260521-6852CDF7 </a:t>
            </a:r>
            <a:r>
              <a:rPr lang="en-US" sz="1900" b="1" dirty="0">
                <a:ea typeface="+mn-lt"/>
                <a:cs typeface="+mn-lt"/>
              </a:rPr>
              <a:t>, </a:t>
            </a:r>
            <a:r>
              <a:rPr lang="en-US" sz="1900" b="1" dirty="0">
                <a:ea typeface="+mn-lt"/>
                <a:cs typeface="+mn-lt"/>
                <a:hlinkClick r:id="rId2"/>
              </a:rPr>
              <a:t>9704-SDK-2.0.0-260521-6852CDF7</a:t>
            </a:r>
          </a:p>
          <a:p>
            <a:pPr lvl="1">
              <a:spcBef>
                <a:spcPts val="300"/>
              </a:spcBef>
            </a:pPr>
            <a:r>
              <a:rPr lang="en-US" sz="1900" dirty="0"/>
              <a:t>MD5 Checksum: </a:t>
            </a:r>
            <a:r>
              <a:rPr lang="en-US" sz="1900" b="1" dirty="0"/>
              <a:t>732b039af9aadf4b66589688d71ec9ab, </a:t>
            </a:r>
            <a:r>
              <a:rPr lang="en-US" sz="1900" b="1" dirty="0">
                <a:ea typeface="+mn-lt"/>
                <a:cs typeface="+mn-lt"/>
              </a:rPr>
              <a:t>7de1c8f1ee94a05e96f576e8a42d7d14</a:t>
            </a:r>
            <a:endParaRPr lang="en-US" sz="1900" b="1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900" dirty="0"/>
              <a:t>Version Identification String: </a:t>
            </a:r>
            <a:r>
              <a:rPr lang="en-US" sz="1900" b="1" dirty="0">
                <a:ea typeface="+mn-lt"/>
                <a:cs typeface="+mn-lt"/>
              </a:rPr>
              <a:t>9604-SDK-2.0.0-260521-6852CDF7, 9704-SDK-2.0.0-260521-6852CDF7</a:t>
            </a:r>
          </a:p>
          <a:p>
            <a:pPr>
              <a:spcBef>
                <a:spcPts val="300"/>
              </a:spcBef>
            </a:pPr>
            <a:r>
              <a:rPr lang="en-US" sz="2400" dirty="0"/>
              <a:t>Hardware Tested</a:t>
            </a:r>
            <a:endParaRPr lang="en-US" sz="2400" dirty="0">
              <a:cs typeface="Arial"/>
            </a:endParaRPr>
          </a:p>
          <a:p>
            <a:pPr marL="742950" lvl="1" indent="-285750">
              <a:spcBef>
                <a:spcPts val="300"/>
              </a:spcBef>
            </a:pPr>
            <a:r>
              <a:rPr lang="en-US" sz="1900" dirty="0">
                <a:cs typeface="Arial"/>
              </a:rPr>
              <a:t>9604 Launch Pad EP2 / Transceiver: IMEI: 300275030001160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sz="1400" dirty="0">
                <a:cs typeface="Arial"/>
              </a:rPr>
              <a:t>Location: </a:t>
            </a:r>
            <a:r>
              <a:rPr lang="en-US" sz="1400" b="1" dirty="0">
                <a:cs typeface="Arial"/>
              </a:rPr>
              <a:t>KVM-TSC-ARTR-OTA-04 in AZ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sz="1400" dirty="0">
                <a:cs typeface="Arial"/>
              </a:rPr>
              <a:t>Test domain used for: </a:t>
            </a:r>
            <a:r>
              <a:rPr lang="en-US" sz="1400" b="1" dirty="0">
                <a:cs typeface="Arial"/>
              </a:rPr>
              <a:t>Sketch Automation</a:t>
            </a:r>
            <a:endParaRPr lang="en-US" sz="1900" dirty="0">
              <a:cs typeface="Arial"/>
            </a:endParaRPr>
          </a:p>
          <a:p>
            <a:pPr marL="742950" lvl="1" indent="-285750">
              <a:spcBef>
                <a:spcPts val="300"/>
              </a:spcBef>
            </a:pPr>
            <a:r>
              <a:rPr lang="en-US" sz="1900" dirty="0">
                <a:cs typeface="Arial"/>
              </a:rPr>
              <a:t>9704 Launch Pad IRDM-5202-PCB-003A / Transceiver: IRID0258A (S/N: 1A016Y)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sz="1400" dirty="0">
                <a:cs typeface="Arial"/>
              </a:rPr>
              <a:t>Location: </a:t>
            </a:r>
            <a:r>
              <a:rPr lang="en-US" sz="1400" b="1" dirty="0">
                <a:cs typeface="Arial"/>
              </a:rPr>
              <a:t>KVM-SNOC-ARTR-OTA-04 in VA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sz="1400" dirty="0">
                <a:cs typeface="Arial"/>
              </a:rPr>
              <a:t>Test domain used for: </a:t>
            </a:r>
            <a:r>
              <a:rPr lang="en-US" sz="1400" b="1" dirty="0">
                <a:cs typeface="Arial"/>
              </a:rPr>
              <a:t>Sketch Automation</a:t>
            </a:r>
          </a:p>
          <a:p>
            <a:pPr>
              <a:spcBef>
                <a:spcPts val="300"/>
              </a:spcBef>
            </a:pPr>
            <a:r>
              <a:rPr lang="en-US" sz="2400" dirty="0">
                <a:cs typeface="Arial"/>
              </a:rPr>
              <a:t>Transceiver Firmware Tested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(9604) 07.01.A00.01.S03.00.09</a:t>
            </a:r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(9704) SX-1.4.9-240611-D22385EF</a:t>
            </a:r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(9704) SX-1.5.5-240927-6C70C408</a:t>
            </a:r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(9704) SX-1.5.8-250117-98E6115E</a:t>
            </a:r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(9704) SX-1.5.14-250902-B0EB6AA5</a:t>
            </a:r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(9704) SX-1.6.0-250926-16B2E66E</a:t>
            </a:r>
          </a:p>
          <a:p>
            <a:pPr lvl="1">
              <a:spcBef>
                <a:spcPts val="300"/>
              </a:spcBef>
            </a:pPr>
            <a:r>
              <a:rPr lang="en-US" sz="1900" dirty="0">
                <a:ea typeface="+mn-lt"/>
                <a:cs typeface="+mn-lt"/>
              </a:rPr>
              <a:t>(9704) SX-1.6.6-260417-85CCAEA8</a:t>
            </a:r>
          </a:p>
          <a:p>
            <a:pPr lvl="1">
              <a:spcBef>
                <a:spcPts val="300"/>
              </a:spcBef>
            </a:pPr>
            <a:endParaRPr lang="en-US" sz="1800" dirty="0">
              <a:ea typeface="+mn-lt"/>
              <a:cs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37457-819B-4AF7-B60C-3969143B9F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788" y="418468"/>
            <a:ext cx="10515600" cy="64452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b="1"/>
              <a:t>Test Campaign Context</a:t>
            </a:r>
          </a:p>
        </p:txBody>
      </p:sp>
    </p:spTree>
    <p:extLst>
      <p:ext uri="{BB962C8B-B14F-4D97-AF65-F5344CB8AC3E}">
        <p14:creationId xmlns:p14="http://schemas.microsoft.com/office/powerpoint/2010/main" val="166438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842585-C235-4BC0-B357-8901106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4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80C7-13AE-43B8-B7FB-05395B28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1871"/>
            <a:ext cx="10848305" cy="45852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400" dirty="0"/>
              <a:t>Jira Release</a:t>
            </a:r>
          </a:p>
          <a:p>
            <a:pPr lvl="1">
              <a:spcBef>
                <a:spcPts val="300"/>
              </a:spcBef>
            </a:pPr>
            <a:r>
              <a:rPr lang="en-US" sz="1800" dirty="0">
                <a:ea typeface="+mn-lt"/>
                <a:cs typeface="+mn-lt"/>
                <a:hlinkClick r:id="rId2"/>
              </a:rPr>
              <a:t>Launch-Pad-IDKs-2.0.0-260521-6852CDF7</a:t>
            </a:r>
            <a:endParaRPr lang="en-US" sz="1800" dirty="0">
              <a:ea typeface="+mn-lt"/>
              <a:cs typeface="+mn-lt"/>
            </a:endParaRPr>
          </a:p>
          <a:p>
            <a:pPr>
              <a:spcBef>
                <a:spcPts val="300"/>
              </a:spcBef>
            </a:pPr>
            <a:r>
              <a:rPr lang="en-US" sz="2400" dirty="0"/>
              <a:t>Change Records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Engineering Software Version Description captures key information about the build, including a historical list of all changes associated with it.</a:t>
            </a:r>
            <a:endParaRPr lang="en-US" sz="18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>
                <a:ea typeface="+mn-lt"/>
                <a:cs typeface="+mn-lt"/>
                <a:hlinkClick r:id="rId3"/>
              </a:rPr>
              <a:t>Launch-Pad-IDKs-2.0.0-260521-6852CDF7-ESVD - Launch Pad Family of Integrator Development Kits Engineering Software Version Description</a:t>
            </a:r>
            <a:endParaRPr lang="en-US" sz="1800" dirty="0">
              <a:ea typeface="+mn-lt"/>
              <a:cs typeface="+mn-lt"/>
              <a:hlinkClick r:id="rId4"/>
            </a:endParaRPr>
          </a:p>
          <a:p>
            <a:pPr>
              <a:spcBef>
                <a:spcPts val="300"/>
              </a:spcBef>
            </a:pPr>
            <a:r>
              <a:rPr lang="en-US" sz="2400" dirty="0"/>
              <a:t>Verification Test Tracker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>
                <a:ea typeface="+mn-lt"/>
                <a:cs typeface="+mn-lt"/>
                <a:hlinkClick r:id="rId5"/>
              </a:rPr>
              <a:t>Launch Pad IDKs v2.0.0 Verification Test Tracker</a:t>
            </a:r>
            <a:endParaRPr lang="en-US" sz="1800" dirty="0">
              <a:ea typeface="+mn-lt"/>
              <a:cs typeface="+mn-lt"/>
              <a:hlinkClick r:id="rId6"/>
            </a:endParaRPr>
          </a:p>
          <a:p>
            <a:pPr>
              <a:spcBef>
                <a:spcPts val="300"/>
              </a:spcBef>
            </a:pPr>
            <a:r>
              <a:rPr lang="en-US" sz="2400" dirty="0"/>
              <a:t>Test Report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The test report is attached to the Verification Test Tracker: </a:t>
            </a:r>
            <a:r>
              <a:rPr lang="en-US" sz="1800" dirty="0">
                <a:hlinkClick r:id="rId7"/>
              </a:rPr>
              <a:t>Launch Pad SDK v2.0.0 Test Report</a:t>
            </a:r>
            <a:endParaRPr lang="en-US" sz="1800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37457-819B-4AF7-B60C-3969143B9F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788" y="418468"/>
            <a:ext cx="10515600" cy="64452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b="1"/>
              <a:t>Related and Relevant Links</a:t>
            </a:r>
          </a:p>
        </p:txBody>
      </p:sp>
    </p:spTree>
    <p:extLst>
      <p:ext uri="{BB962C8B-B14F-4D97-AF65-F5344CB8AC3E}">
        <p14:creationId xmlns:p14="http://schemas.microsoft.com/office/powerpoint/2010/main" val="3737733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842585-C235-4BC0-B357-8901106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5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80C7-13AE-43B8-B7FB-05395B28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1871"/>
            <a:ext cx="10515601" cy="4638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lvl="1">
              <a:lnSpc>
                <a:spcPct val="80000"/>
              </a:lnSpc>
              <a:spcBef>
                <a:spcPts val="300"/>
              </a:spcBef>
              <a:buNone/>
            </a:pPr>
            <a:r>
              <a:rPr lang="en-US" dirty="0">
                <a:cs typeface="Arial"/>
              </a:rPr>
              <a:t>Mobile Product Engineering (MPE)</a:t>
            </a:r>
            <a:endParaRPr lang="en-US" dirty="0"/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 Date:</a:t>
            </a:r>
            <a:r>
              <a:rPr lang="en-US" sz="1800" b="1" dirty="0">
                <a:cs typeface="Arial"/>
              </a:rPr>
              <a:t> 21 MAY 2026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Result:</a:t>
            </a:r>
            <a:r>
              <a:rPr lang="en-US" sz="1800" b="1" dirty="0">
                <a:cs typeface="Arial"/>
              </a:rPr>
              <a:t> PASS</a:t>
            </a:r>
          </a:p>
          <a:p>
            <a:pPr marL="228600" lvl="1">
              <a:lnSpc>
                <a:spcPct val="80000"/>
              </a:lnSpc>
              <a:spcBef>
                <a:spcPts val="300"/>
              </a:spcBef>
              <a:buNone/>
            </a:pPr>
            <a:r>
              <a:rPr lang="en-US" dirty="0">
                <a:cs typeface="Arial"/>
              </a:rPr>
              <a:t>Sketch Automation (SA)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 Date:</a:t>
            </a:r>
            <a:r>
              <a:rPr lang="en-US" sz="1800" b="1" dirty="0">
                <a:cs typeface="Arial"/>
              </a:rPr>
              <a:t> 21 MAY 2026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Result:</a:t>
            </a:r>
            <a:r>
              <a:rPr lang="en-US" sz="1800" b="1" dirty="0">
                <a:cs typeface="Arial"/>
              </a:rPr>
              <a:t> PASS</a:t>
            </a:r>
          </a:p>
          <a:p>
            <a:pPr marL="228600" lvl="1">
              <a:lnSpc>
                <a:spcPct val="80000"/>
              </a:lnSpc>
              <a:spcBef>
                <a:spcPts val="300"/>
              </a:spcBef>
              <a:buNone/>
            </a:pPr>
            <a:r>
              <a:rPr lang="en-US" dirty="0">
                <a:cs typeface="Arial"/>
              </a:rPr>
              <a:t>Out-of-box Experience (OOBE)</a:t>
            </a:r>
            <a:endParaRPr lang="en-US" dirty="0"/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 Date:</a:t>
            </a:r>
            <a:r>
              <a:rPr lang="en-US" sz="1800" b="1" dirty="0">
                <a:cs typeface="Arial"/>
              </a:rPr>
              <a:t> N/A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Result:</a:t>
            </a:r>
            <a:r>
              <a:rPr lang="en-US" sz="1800" b="1" dirty="0">
                <a:cs typeface="Arial"/>
              </a:rPr>
              <a:t> SKIPPED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Reason: </a:t>
            </a:r>
            <a:r>
              <a:rPr lang="en-US" sz="1800" b="1" dirty="0">
                <a:cs typeface="Arial"/>
              </a:rPr>
              <a:t>The OOBE was not changed.</a:t>
            </a:r>
          </a:p>
          <a:p>
            <a:pPr marL="228600" lvl="1">
              <a:lnSpc>
                <a:spcPct val="80000"/>
              </a:lnSpc>
              <a:spcBef>
                <a:spcPts val="300"/>
              </a:spcBef>
              <a:buNone/>
            </a:pPr>
            <a:r>
              <a:rPr lang="en-US" dirty="0">
                <a:cs typeface="Arial"/>
              </a:rPr>
              <a:t>Customer (C)</a:t>
            </a:r>
            <a:endParaRPr lang="en-US" dirty="0"/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 Date:</a:t>
            </a:r>
            <a:r>
              <a:rPr lang="en-US" sz="1800" b="1" dirty="0">
                <a:cs typeface="Arial"/>
              </a:rPr>
              <a:t> N/A</a:t>
            </a:r>
            <a:endParaRPr lang="en-US" sz="1800" dirty="0">
              <a:cs typeface="Arial"/>
            </a:endParaRP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Result: </a:t>
            </a:r>
            <a:r>
              <a:rPr lang="en-US" sz="1800" b="1" dirty="0">
                <a:cs typeface="Arial"/>
              </a:rPr>
              <a:t>SKIPPED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en-US" sz="1800" dirty="0">
                <a:cs typeface="Arial"/>
              </a:rPr>
              <a:t>Reason: </a:t>
            </a:r>
            <a:r>
              <a:rPr lang="en-US" sz="1800" b="1" dirty="0">
                <a:cs typeface="Arial"/>
              </a:rPr>
              <a:t>No Customer inquiries were noted by the Product Owner that required testing.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37457-819B-4AF7-B60C-3969143B9F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788" y="418468"/>
            <a:ext cx="10515600" cy="64452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b="1" dirty="0"/>
              <a:t>Test Domain Results Summary</a:t>
            </a:r>
          </a:p>
        </p:txBody>
      </p:sp>
    </p:spTree>
    <p:extLst>
      <p:ext uri="{BB962C8B-B14F-4D97-AF65-F5344CB8AC3E}">
        <p14:creationId xmlns:p14="http://schemas.microsoft.com/office/powerpoint/2010/main" val="289513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C5B6C5-AC3E-A53E-D027-D6D91C8B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6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70D4-BA87-73AE-9B02-FF9A9977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endParaRPr lang="en-US" sz="1800" dirty="0">
              <a:cs typeface="Arial" panose="020B060402020202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FE56F-740A-DCF3-787A-F200AAFBEF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Arial"/>
                <a:cs typeface="Arial"/>
              </a:rPr>
              <a:t>Exceptions During Testing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86006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B9F2F8-DB55-F065-EE1F-75DF01CE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7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78AA9-19BD-306A-E02A-385517BAE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cs typeface="Arial"/>
              </a:rPr>
              <a:t>Mobile Product Engineering</a:t>
            </a:r>
            <a:endParaRPr lang="en-US" sz="3200" dirty="0"/>
          </a:p>
          <a:p>
            <a:pPr marL="685800">
              <a:lnSpc>
                <a:spcPct val="8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All testing conducted by the Launch Pad Team.</a:t>
            </a:r>
            <a:endParaRPr lang="en-US" sz="2000" dirty="0">
              <a:cs typeface="Arial"/>
            </a:endParaRPr>
          </a:p>
          <a:p>
            <a:r>
              <a:rPr lang="en-US" sz="2400" dirty="0"/>
              <a:t>Example Sketches Domain</a:t>
            </a:r>
            <a:endParaRPr lang="en-US" sz="2400" dirty="0">
              <a:cs typeface="Arial"/>
            </a:endParaRPr>
          </a:p>
          <a:p>
            <a:pPr marL="685800">
              <a:lnSpc>
                <a:spcPct val="80000"/>
              </a:lnSpc>
              <a:spcBef>
                <a:spcPts val="300"/>
              </a:spcBef>
              <a:buChar char="•"/>
            </a:pPr>
            <a:r>
              <a:rPr lang="en-US" sz="1800" dirty="0">
                <a:ea typeface="+mn-lt"/>
                <a:cs typeface="+mn-lt"/>
              </a:rPr>
              <a:t>Verifies all SDK example sketches, including interoperability with various SFX firmware versions.</a:t>
            </a:r>
          </a:p>
          <a:p>
            <a:r>
              <a:rPr lang="en-US" sz="2400" dirty="0"/>
              <a:t>Out-of-Box Experience Domain</a:t>
            </a:r>
          </a:p>
          <a:p>
            <a:pPr marL="685800">
              <a:lnSpc>
                <a:spcPct val="8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/>
              <a:t>Verifies</a:t>
            </a:r>
            <a:r>
              <a:rPr lang="en-US" sz="1800" dirty="0"/>
              <a:t> the end user's experience by following the Getting Started Guide up to the Next Steps section on the latest version of the Windows and Mac platforms.</a:t>
            </a:r>
          </a:p>
          <a:p>
            <a:r>
              <a:rPr lang="en-US" sz="2400" dirty="0"/>
              <a:t>Customer Domain</a:t>
            </a:r>
          </a:p>
          <a:p>
            <a:pPr marL="685800">
              <a:lnSpc>
                <a:spcPct val="8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Cover any specific requests by the Product Owner for issues reported by customers.</a:t>
            </a:r>
            <a:endParaRPr lang="en-US" sz="1800" dirty="0"/>
          </a:p>
          <a:p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FA5D8-3A92-3218-4D5F-19253EF54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Test Domains Description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61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842585-C235-4BC0-B357-8901106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8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80C7-13AE-43B8-B7FB-05395B28B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400" dirty="0"/>
              <a:t>Release Approval Actions (insert Y, N, N/A, N/P, or abstain for each)</a:t>
            </a:r>
          </a:p>
          <a:p>
            <a:pPr lvl="1">
              <a:spcBef>
                <a:spcPts val="300"/>
              </a:spcBef>
            </a:pPr>
            <a:r>
              <a:rPr lang="en-US" sz="1800" dirty="0"/>
              <a:t>[  ] Answer all questions from all stakeholders</a:t>
            </a:r>
            <a:endParaRPr lang="en-US" sz="18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Poll stakeholders to make a go-forward decision (Release to Customers)</a:t>
            </a:r>
            <a:endParaRPr lang="en-US" sz="1800" dirty="0">
              <a:cs typeface="Arial"/>
            </a:endParaRPr>
          </a:p>
          <a:p>
            <a:pPr lvl="2">
              <a:spcBef>
                <a:spcPts val="300"/>
              </a:spcBef>
            </a:pPr>
            <a:r>
              <a:rPr lang="en-US" sz="1400" dirty="0"/>
              <a:t>[  ] Managing Product Owner</a:t>
            </a:r>
            <a:endParaRPr lang="en-US" sz="1400" dirty="0">
              <a:cs typeface="Arial"/>
            </a:endParaRPr>
          </a:p>
          <a:p>
            <a:pPr lvl="2">
              <a:spcBef>
                <a:spcPts val="300"/>
              </a:spcBef>
            </a:pPr>
            <a:r>
              <a:rPr lang="en-US" sz="1400" dirty="0"/>
              <a:t>[  ] Technical Product Owner</a:t>
            </a:r>
            <a:endParaRPr lang="en-US" sz="1400" dirty="0">
              <a:cs typeface="Arial"/>
            </a:endParaRPr>
          </a:p>
          <a:p>
            <a:pPr lvl="2">
              <a:spcBef>
                <a:spcPts val="300"/>
              </a:spcBef>
            </a:pPr>
            <a:r>
              <a:rPr lang="en-US" sz="1400" dirty="0"/>
              <a:t>[  ] Acceptance Test Manager</a:t>
            </a:r>
            <a:endParaRPr lang="en-US" sz="1400" dirty="0">
              <a:cs typeface="Arial"/>
            </a:endParaRPr>
          </a:p>
          <a:p>
            <a:pPr lvl="1">
              <a:spcBef>
                <a:spcPts val="300"/>
              </a:spcBef>
            </a:pPr>
            <a:r>
              <a:rPr lang="en-US" sz="1800" dirty="0"/>
              <a:t>Decision: </a:t>
            </a:r>
            <a:endParaRPr lang="en-US" sz="1800" dirty="0">
              <a:cs typeface="Arial"/>
            </a:endParaRPr>
          </a:p>
          <a:p>
            <a:pPr>
              <a:spcBef>
                <a:spcPts val="300"/>
              </a:spcBef>
            </a:pPr>
            <a:r>
              <a:rPr lang="en-US" dirty="0"/>
              <a:t>Notes</a:t>
            </a:r>
            <a:r>
              <a:rPr lang="en-US" sz="2400" dirty="0"/>
              <a:t>:</a:t>
            </a:r>
            <a:endParaRPr lang="en-US" sz="2400" dirty="0">
              <a:cs typeface="Arial"/>
            </a:endParaRPr>
          </a:p>
          <a:p>
            <a:pPr lvl="1">
              <a:spcBef>
                <a:spcPts val="300"/>
              </a:spcBef>
            </a:pPr>
            <a:endParaRPr lang="en-US" sz="1800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37457-819B-4AF7-B60C-3969143B9F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788" y="418468"/>
            <a:ext cx="10515600" cy="64452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b="1"/>
              <a:t>Decision Checklist and Review Conclusions</a:t>
            </a:r>
          </a:p>
        </p:txBody>
      </p:sp>
    </p:spTree>
    <p:extLst>
      <p:ext uri="{BB962C8B-B14F-4D97-AF65-F5344CB8AC3E}">
        <p14:creationId xmlns:p14="http://schemas.microsoft.com/office/powerpoint/2010/main" val="366484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842585-C235-4BC0-B357-8901106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9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80C7-13AE-43B8-B7FB-05395B28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1870"/>
            <a:ext cx="10758545" cy="483216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600"/>
              <a:t>Acceptance Test Results Review Closeout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Remove IRDM-1023-PRO-007 cover page and Change History (first and last slide(s) in deck)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Set Document ID, Version, and File Name as appropriate</a:t>
            </a:r>
          </a:p>
          <a:p>
            <a:pPr marL="920750" lvl="2" indent="-231775">
              <a:lnSpc>
                <a:spcPct val="100000"/>
              </a:lnSpc>
              <a:spcBef>
                <a:spcPts val="300"/>
              </a:spcBef>
            </a:pPr>
            <a:r>
              <a:rPr lang="en-US" sz="1500"/>
              <a:t>(e.g. “IRDM-</a:t>
            </a:r>
            <a:r>
              <a:rPr lang="en-US" sz="1500" err="1"/>
              <a:t>nnnn</a:t>
            </a:r>
            <a:r>
              <a:rPr lang="en-US" sz="1500"/>
              <a:t>-TREP-mmm </a:t>
            </a:r>
            <a:r>
              <a:rPr lang="en-US" sz="1500" err="1"/>
              <a:t>vK.J</a:t>
            </a:r>
            <a:r>
              <a:rPr lang="en-US" sz="1500"/>
              <a:t> - &lt;architecture&gt; Software Test Rollup Report - ZZ-</a:t>
            </a:r>
            <a:r>
              <a:rPr lang="en-US" sz="1500" err="1"/>
              <a:t>x.y.z</a:t>
            </a:r>
            <a:r>
              <a:rPr lang="en-US" sz="1500"/>
              <a:t>” // per IRDM-1023-MDIR-001)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Archive in SharePoint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Notify Technical Product Owner that document has been archived and send link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600"/>
              <a:t>Prepare for Release Approval and Rollout Gate Review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This Acceptance Test Result Review will be archived in SharePoint beside tested artifact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Public Software Release Note will be prepared jointly between the TPO and MPO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Distributable package (ZIP) will be prepared for IFP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Supply Chain will be queried for contents of Physical Inventory Management Plan in checklist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RARGR checklist deck will be prepared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RARGR will be scheduled</a:t>
            </a:r>
            <a:endParaRPr lang="en-US" sz="1900" b="1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600"/>
              <a:t>Hold Release Approval and Rollout Gate Review</a:t>
            </a:r>
          </a:p>
          <a:p>
            <a:pPr marL="463550" lvl="1" indent="-231775">
              <a:lnSpc>
                <a:spcPct val="100000"/>
              </a:lnSpc>
              <a:spcBef>
                <a:spcPts val="300"/>
              </a:spcBef>
            </a:pPr>
            <a:r>
              <a:rPr lang="en-US" sz="1900"/>
              <a:t>Public Software Release Note and Acceptance Test Summary Report will be sent by TPO at least 24 hours before meeting is held as required by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37457-819B-4AF7-B60C-3969143B9F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788" y="418468"/>
            <a:ext cx="10515600" cy="644525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b="1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88774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B20F52-3CE0-482B-9112-9EB03BBC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C09987-2E7E-4758-A958-ADDF387BD1A8}" type="slidenum">
              <a:rPr lang="en-US" smtClean="0">
                <a:solidFill>
                  <a:schemeClr val="accent1"/>
                </a:solidFill>
              </a:rPr>
              <a:pPr/>
              <a:t>10</a:t>
            </a:fld>
            <a:r>
              <a:rPr lang="en-US"/>
              <a:t> | IRIDIUM PROPRIETARY BUSINESS INFORMATION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1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ridium Corporate Template">
      <a:dk1>
        <a:srgbClr val="33393E"/>
      </a:dk1>
      <a:lt1>
        <a:srgbClr val="FFFFFF"/>
      </a:lt1>
      <a:dk2>
        <a:srgbClr val="33393E"/>
      </a:dk2>
      <a:lt2>
        <a:srgbClr val="FFFFFF"/>
      </a:lt2>
      <a:accent1>
        <a:srgbClr val="FCB131"/>
      </a:accent1>
      <a:accent2>
        <a:srgbClr val="95A0A9"/>
      </a:accent2>
      <a:accent3>
        <a:srgbClr val="14AAC9"/>
      </a:accent3>
      <a:accent4>
        <a:srgbClr val="7CB142"/>
      </a:accent4>
      <a:accent5>
        <a:srgbClr val="F26322"/>
      </a:accent5>
      <a:accent6>
        <a:srgbClr val="FCB131"/>
      </a:accent6>
      <a:hlink>
        <a:srgbClr val="FCB131"/>
      </a:hlink>
      <a:folHlink>
        <a:srgbClr val="FCB13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ND_Corporate PowerPoint Template_Dark_020421" id="{7800086D-CAF8-4C3F-8A49-7E7D9D6F7E55}" vid="{7105EA58-6079-488C-9E4B-346FFE542C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7601908D097B40997BD1420F650EE7" ma:contentTypeVersion="47" ma:contentTypeDescription="Create a new document." ma:contentTypeScope="" ma:versionID="605cb183c06ea72cf310827203eac4ad">
  <xsd:schema xmlns:xsd="http://www.w3.org/2001/XMLSchema" xmlns:xs="http://www.w3.org/2001/XMLSchema" xmlns:p="http://schemas.microsoft.com/office/2006/metadata/properties" xmlns:ns2="69827baf-44c8-4d6e-8fca-09c541b72215" xmlns:ns3="01a8d780-103f-437e-a7af-e5a57fb7162e" targetNamespace="http://schemas.microsoft.com/office/2006/metadata/properties" ma:root="true" ma:fieldsID="b54aff87ab8fdb4d1d174dbfee094ae4" ns2:_="" ns3:_="">
    <xsd:import namespace="69827baf-44c8-4d6e-8fca-09c541b72215"/>
    <xsd:import namespace="01a8d780-103f-437e-a7af-e5a57fb7162e"/>
    <xsd:element name="properties">
      <xsd:complexType>
        <xsd:sequence>
          <xsd:element name="documentManagement">
            <xsd:complexType>
              <xsd:all>
                <xsd:element ref="ns2:_tzSourceUrl" minOccurs="0"/>
                <xsd:element ref="ns2:author_1" minOccurs="0"/>
                <xsd:element ref="ns2:keyWords" minOccurs="0"/>
                <xsd:element ref="ns2:contentType_1" minOccurs="0"/>
                <xsd:element ref="ns2:owner" minOccurs="0"/>
                <xsd:element ref="ns2:summary" minOccurs="0"/>
                <xsd:element ref="ns2:appearsIn" minOccurs="0"/>
                <xsd:element ref="ns2:itemURL" minOccurs="0"/>
                <xsd:element ref="ns2:handle" minOccurs="0"/>
                <xsd:element ref="ns2:handleNum" minOccurs="0"/>
                <xsd:element ref="ns2:versionHandleNum" minOccurs="0"/>
                <xsd:element ref="ns2:type" minOccurs="0"/>
                <xsd:element ref="ns2:typeNum" minOccurs="0"/>
                <xsd:element ref="ns2:baseType" minOccurs="0"/>
                <xsd:element ref="ns2:baseTypeNum" minOccurs="0"/>
                <xsd:element ref="ns2:rootType" minOccurs="0"/>
                <xsd:element ref="ns2:rootTypeNum" minOccurs="0"/>
                <xsd:element ref="ns2:fileName" minOccurs="0"/>
                <xsd:element ref="ns2:isPreferred" minOccurs="0"/>
                <xsd:element ref="ns2:maximumVersionsProperty" minOccurs="0"/>
                <xsd:element ref="ns2:isDeclareReady" minOccurs="0"/>
                <xsd:element ref="ns2:lockedBy" minOccurs="0"/>
                <xsd:element ref="ns2:isRecord" minOccurs="0"/>
                <xsd:element ref="ns2:versionUrl" minOccurs="0"/>
                <xsd:element ref="ns2:displayname" minOccurs="0"/>
                <xsd:element ref="ns2:tztdxfolderpath" minOccurs="0"/>
                <xsd:element ref="ns2:author_x0028_1_x0029_" minOccurs="0"/>
                <xsd:element ref="ns2:_x007b_101A19A5-63B6-495e-B3A3-98C73E269219_x007d_" minOccurs="0"/>
                <xsd:element ref="ns2:attachmentsOnly" minOccurs="0"/>
                <xsd:element ref="ns2:url_1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abstract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2:expirationDate" minOccurs="0"/>
                <xsd:element ref="ns2:wikiField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27baf-44c8-4d6e-8fca-09c541b72215" elementFormDefault="qualified">
    <xsd:import namespace="http://schemas.microsoft.com/office/2006/documentManagement/types"/>
    <xsd:import namespace="http://schemas.microsoft.com/office/infopath/2007/PartnerControls"/>
    <xsd:element name="_tzSourceUrl" ma:index="8" nillable="true" ma:displayName="Tzunami Source URL" ma:description="The source URL of the item" ma:format="" ma:hidden="true" ma:internalName="_tzSourceUrl" ma:readOnly="false">
      <xsd:simpleType>
        <xsd:restriction base="dms:Text"/>
      </xsd:simpleType>
    </xsd:element>
    <xsd:element name="author_1" ma:index="9" nillable="true" ma:displayName="Author" ma:description="" ma:format="" ma:internalName="author_1" ma:readOnly="false">
      <xsd:simpleType>
        <xsd:restriction base="dms:Text"/>
      </xsd:simpleType>
    </xsd:element>
    <xsd:element name="keyWords" ma:index="10" nillable="true" ma:displayName="Keywords" ma:description="" ma:format="" ma:internalName="keyWords" ma:readOnly="false">
      <xsd:simpleType>
        <xsd:restriction base="dms:Text"/>
      </xsd:simpleType>
    </xsd:element>
    <xsd:element name="contentType_1" ma:index="11" nillable="true" ma:displayName="Content Type" ma:description="" ma:format="" ma:internalName="contentType_1" ma:readOnly="false">
      <xsd:simpleType>
        <xsd:restriction base="dms:Text"/>
      </xsd:simpleType>
    </xsd:element>
    <xsd:element name="owner" ma:index="12" nillable="true" ma:displayName="Owner" ma:description="" ma:format="" ma:list="UserInfo" ma:internalName="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ummary" ma:index="13" nillable="true" ma:displayName="Summary" ma:description="" ma:format="" ma:internalName="summary" ma:readOnly="false">
      <xsd:simpleType>
        <xsd:restriction base="dms:Text"/>
      </xsd:simpleType>
    </xsd:element>
    <xsd:element name="appearsIn" ma:index="14" nillable="true" ma:displayName="Appears In" ma:description="" ma:format="" ma:internalName="appearsIn" ma:readOnly="false">
      <xsd:simpleType>
        <xsd:restriction base="dms:Text"/>
      </xsd:simpleType>
    </xsd:element>
    <xsd:element name="itemURL" ma:index="15" nillable="true" ma:displayName="ItemURL" ma:description="" ma:format="" ma:indexed="true" ma:internalName="itemURL" ma:readOnly="false">
      <xsd:simpleType>
        <xsd:restriction base="dms:Text"/>
      </xsd:simpleType>
    </xsd:element>
    <xsd:element name="handle" ma:index="16" nillable="true" ma:displayName="Handle" ma:description="" ma:format="" ma:indexed="true" ma:internalName="handle" ma:readOnly="false">
      <xsd:simpleType>
        <xsd:restriction base="dms:Text"/>
      </xsd:simpleType>
    </xsd:element>
    <xsd:element name="handleNum" ma:index="17" nillable="true" ma:displayName="Handle Number" ma:description="" ma:format="" ma:internalName="handleNum" ma:readOnly="false">
      <xsd:simpleType>
        <xsd:restriction base="dms:Text"/>
      </xsd:simpleType>
    </xsd:element>
    <xsd:element name="versionHandleNum" ma:index="18" nillable="true" ma:displayName="Version Handle Number" ma:description="" ma:format="" ma:internalName="versionHandleNum" ma:readOnly="false">
      <xsd:simpleType>
        <xsd:restriction base="dms:Text"/>
      </xsd:simpleType>
    </xsd:element>
    <xsd:element name="type" ma:index="19" nillable="true" ma:displayName="Type" ma:description="" ma:format="" ma:internalName="type" ma:readOnly="false">
      <xsd:simpleType>
        <xsd:union memberTypes="dms:Text">
          <xsd:simpleType>
            <xsd:restriction base="dms:Choice">
              <xsd:enumeration value="MailMessage"/>
              <xsd:enumeration value="Weblog"/>
              <xsd:enumeration value="Calendar"/>
              <xsd:enumeration value="WikiPage"/>
              <xsd:enumeration value="Document"/>
              <xsd:enumeration value="URL"/>
              <xsd:enumeration value="Discussion"/>
              <xsd:enumeration value="Topic"/>
              <xsd:enumeration value="Weblog Entry"/>
              <xsd:enumeration value="Collection"/>
              <xsd:enumeration value="Event"/>
              <xsd:enumeration value="Wiki"/>
              <xsd:enumeration value="Workspace"/>
              <xsd:enumeration value="Server"/>
            </xsd:restriction>
          </xsd:simpleType>
        </xsd:union>
      </xsd:simpleType>
    </xsd:element>
    <xsd:element name="typeNum" ma:index="20" nillable="true" ma:displayName="TypeNum" ma:decimals="0" ma:description="" ma:format="" ma:internalName="typeNum" ma:readOnly="false">
      <xsd:simpleType>
        <xsd:restriction base="dms:Number"/>
      </xsd:simpleType>
    </xsd:element>
    <xsd:element name="baseType" ma:index="21" nillable="true" ma:displayName="BaseType" ma:description="" ma:format="" ma:internalName="baseType" ma:readOnly="false">
      <xsd:simpleType>
        <xsd:union memberTypes="dms:Text">
          <xsd:simpleType>
            <xsd:restriction base="dms:Choice">
              <xsd:enumeration value="MailMessage"/>
              <xsd:enumeration value="Weblog"/>
              <xsd:enumeration value="Calendar"/>
              <xsd:enumeration value="WikiPage"/>
              <xsd:enumeration value="Document"/>
              <xsd:enumeration value="URL"/>
              <xsd:enumeration value="Discussion"/>
              <xsd:enumeration value="Topic"/>
              <xsd:enumeration value="Weblog Entry"/>
              <xsd:enumeration value="Collection"/>
              <xsd:enumeration value="Event"/>
              <xsd:enumeration value="Wiki"/>
              <xsd:enumeration value="Workspace"/>
              <xsd:enumeration value="Server"/>
              <xsd:enumeration value="File"/>
            </xsd:restriction>
          </xsd:simpleType>
        </xsd:union>
      </xsd:simpleType>
    </xsd:element>
    <xsd:element name="baseTypeNum" ma:index="22" nillable="true" ma:displayName="BaseTypeNum" ma:decimals="0" ma:description="" ma:format="" ma:internalName="baseTypeNum" ma:readOnly="false">
      <xsd:simpleType>
        <xsd:restriction base="dms:Number"/>
      </xsd:simpleType>
    </xsd:element>
    <xsd:element name="rootType" ma:index="23" nillable="true" ma:displayName="RootType" ma:description="" ma:format="" ma:internalName="rootType" ma:readOnly="false">
      <xsd:simpleType>
        <xsd:union memberTypes="dms:Text">
          <xsd:simpleType>
            <xsd:restriction base="dms:Choice">
              <xsd:enumeration value="MailMessage"/>
              <xsd:enumeration value="Weblog"/>
              <xsd:enumeration value="Calendar"/>
              <xsd:enumeration value="WikiPage"/>
              <xsd:enumeration value="Document"/>
              <xsd:enumeration value="URL"/>
              <xsd:enumeration value="Discussion"/>
              <xsd:enumeration value="Topic"/>
              <xsd:enumeration value="Weblog Entry"/>
              <xsd:enumeration value="Collection"/>
              <xsd:enumeration value="Event"/>
              <xsd:enumeration value="Wiki"/>
              <xsd:enumeration value="Workspace"/>
              <xsd:enumeration value="Server"/>
              <xsd:enumeration value="File"/>
            </xsd:restriction>
          </xsd:simpleType>
        </xsd:union>
      </xsd:simpleType>
    </xsd:element>
    <xsd:element name="rootTypeNum" ma:index="24" nillable="true" ma:displayName="RootTypeNum" ma:decimals="0" ma:description="" ma:format="" ma:internalName="rootTypeNum" ma:readOnly="false">
      <xsd:simpleType>
        <xsd:restriction base="dms:Number"/>
      </xsd:simpleType>
    </xsd:element>
    <xsd:element name="fileName" ma:index="25" nillable="true" ma:displayName="File Name" ma:description="" ma:format="" ma:internalName="fileName" ma:readOnly="false">
      <xsd:simpleType>
        <xsd:restriction base="dms:Text"/>
      </xsd:simpleType>
    </xsd:element>
    <xsd:element name="isPreferred" ma:index="26" nillable="true" ma:displayName="IsPreferred" ma:description="" ma:format="" ma:internalName="isPreferred" ma:readOnly="false">
      <xsd:simpleType>
        <xsd:restriction base="dms:Boolean"/>
      </xsd:simpleType>
    </xsd:element>
    <xsd:element name="maximumVersionsProperty" ma:index="27" nillable="true" ma:displayName="Maximum Versions Property" ma:decimals="0" ma:description="" ma:format="" ma:internalName="maximumVersionsProperty" ma:readOnly="false">
      <xsd:simpleType>
        <xsd:restriction base="dms:Number"/>
      </xsd:simpleType>
    </xsd:element>
    <xsd:element name="isDeclareReady" ma:index="28" nillable="true" ma:displayName="Ready for Declare" ma:description="" ma:format="" ma:internalName="isDeclareReady" ma:readOnly="false">
      <xsd:simpleType>
        <xsd:restriction base="dms:Boolean"/>
      </xsd:simpleType>
    </xsd:element>
    <xsd:element name="lockedBy" ma:index="29" nillable="true" ma:displayName="Locked By" ma:description="" ma:format="" ma:list="UserInfo" ma:internalName="lockedBy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sRecord" ma:index="30" nillable="true" ma:displayName="IsRecord" ma:description="" ma:format="" ma:internalName="isRecord" ma:readOnly="false">
      <xsd:simpleType>
        <xsd:restriction base="dms:Boolean"/>
      </xsd:simpleType>
    </xsd:element>
    <xsd:element name="versionUrl" ma:index="31" nillable="true" ma:displayName="VersionUrl" ma:description="" ma:format="" ma:internalName="version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isplayname" ma:index="32" nillable="true" ma:displayName="Display Name" ma:description="" ma:format="" ma:internalName="displayname" ma:readOnly="false">
      <xsd:simpleType>
        <xsd:restriction base="dms:Text"/>
      </xsd:simpleType>
    </xsd:element>
    <xsd:element name="tztdxfolderpath" ma:index="33" nillable="true" ma:displayName="TDX Folder Path" ma:description="" ma:format="" ma:internalName="tztdxfolderpath" ma:readOnly="false">
      <xsd:simpleType>
        <xsd:restriction base="dms:Note"/>
      </xsd:simpleType>
    </xsd:element>
    <xsd:element name="author_x0028_1_x0029_" ma:index="34" nillable="true" ma:displayName="author(1)" ma:description="" ma:format="" ma:internalName="author_x0028_1_x0029_" ma:readOnly="false">
      <xsd:simpleType>
        <xsd:restriction base="dms:Text"/>
      </xsd:simpleType>
    </xsd:element>
    <xsd:element name="_x007b_101A19A5-63B6-495e-B3A3-98C73E269219_x007d_" ma:index="35" nillable="true" ma:displayName="Property Set" ma:description="The property set used for the item" ma:format="" ma:internalName="_x007b_101A19A5_x002d_63B6_x002d_495e_x002d_B3A3_x002d_98C73E269219_x007d_" ma:readOnly="false">
      <xsd:simpleType>
        <xsd:restriction base="dms:Text"/>
      </xsd:simpleType>
    </xsd:element>
    <xsd:element name="attachmentsOnly" ma:index="36" nillable="true" ma:displayName="Attachments Only" ma:description="" ma:format="" ma:internalName="attachmentsOnly" ma:readOnly="false">
      <xsd:simpleType>
        <xsd:restriction base="dms:Boolean"/>
      </xsd:simpleType>
    </xsd:element>
    <xsd:element name="url_1" ma:index="37" nillable="true" ma:displayName="URL" ma:description="" ma:format="" ma:internalName="url_1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bstract" ma:index="46" nillable="true" ma:displayName="Abstract" ma:description="" ma:format="" ma:internalName="abstract" ma:readOnly="false">
      <xsd:simpleType>
        <xsd:restriction base="dms:Note"/>
      </xsd:simpleType>
    </xsd:element>
    <xsd:element name="TaxCatchAll" ma:index="50" nillable="true" ma:displayName="Taxonomy Catch All Column" ma:hidden="true" ma:list="{c4aa8085-f4fe-458c-8c53-59303a63aa42}" ma:internalName="TaxCatchAll" ma:showField="CatchAllData" ma:web="69827baf-44c8-4d6e-8fca-09c541b722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xpirationDate" ma:index="52" nillable="true" ma:displayName="Expiration Date" ma:description="" ma:format="DateTime" ma:internalName="expirationDate" ma:readOnly="false">
      <xsd:simpleType>
        <xsd:restriction base="dms:DateTime"/>
      </xsd:simpleType>
    </xsd:element>
    <xsd:element name="wikiField" ma:index="53" nillable="true" ma:displayName="WikiField" ma:description="" ma:format="" ma:internalName="wikiField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8d780-103f-437e-a7af-e5a57fb71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3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4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4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4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4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47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49" nillable="true" ma:taxonomy="true" ma:internalName="lcf76f155ced4ddcb4097134ff3c332f" ma:taxonomyFieldName="MediaServiceImageTags" ma:displayName="Image Tags" ma:readOnly="false" ma:fieldId="{5cf76f15-5ced-4ddc-b409-7134ff3c332f}" ma:taxonomyMulti="true" ma:sspId="2157e37e-ac80-4b68-b86f-af0b3e9816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5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5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DeclareReady xmlns="69827baf-44c8-4d6e-8fca-09c541b72215">false</isDeclareReady>
    <TaxCatchAll xmlns="69827baf-44c8-4d6e-8fca-09c541b72215" xsi:nil="true"/>
    <summary xmlns="69827baf-44c8-4d6e-8fca-09c541b72215" xsi:nil="true"/>
    <displayname xmlns="69827baf-44c8-4d6e-8fca-09c541b72215">IRDM-1023-PRO-007 v2.2 - Acceptance Test Results Review Template.pptx</displayname>
    <_x007b_101A19A5-63B6-495e-B3A3-98C73E269219_x007d_ xmlns="69827baf-44c8-4d6e-8fca-09c541b72215">Document</_x007b_101A19A5-63B6-495e-B3A3-98C73E269219_x007d_>
    <url_1 xmlns="69827baf-44c8-4d6e-8fca-09c541b72215">
      <Url xsi:nil="true"/>
      <Description xsi:nil="true"/>
    </url_1>
    <typeNum xmlns="69827baf-44c8-4d6e-8fca-09c541b72215">3</typeNum>
    <versionHandleNum xmlns="69827baf-44c8-4d6e-8fca-09c541b72215">v_Document-702672</versionHandleNum>
    <baseTypeNum xmlns="69827baf-44c8-4d6e-8fca-09c541b72215">3</baseTypeNum>
    <keyWords xmlns="69827baf-44c8-4d6e-8fca-09c541b72215" xsi:nil="true"/>
    <contentType_1 xmlns="69827baf-44c8-4d6e-8fca-09c541b72215" xsi:nil="true"/>
    <versionUrl xmlns="69827baf-44c8-4d6e-8fca-09c541b72215">
      <Url>https://docushare.iridium.com/docushare/Get/v_Document-702672/IRDM-1023-PRO-007 v2.2 - Acceptance Test Results Review Template.pptx</Url>
      <Description>https://docushare.iridium.com/docushare/Get/v_Document-702672/IRDM-1023-PRO-007 v2.2 - Acceptance Test Results Review Template.pptx</Description>
    </versionUrl>
    <expirationDate xmlns="69827baf-44c8-4d6e-8fca-09c541b72215" xsi:nil="true"/>
    <_tzSourceUrl xmlns="69827baf-44c8-4d6e-8fca-09c541b72215">File-702672/1</_tzSourceUrl>
    <wikiField xmlns="69827baf-44c8-4d6e-8fca-09c541b72215" xsi:nil="true"/>
    <handle xmlns="69827baf-44c8-4d6e-8fca-09c541b72215">File-702672</handle>
    <maximumVersionsProperty xmlns="69827baf-44c8-4d6e-8fca-09c541b72215">1000</maximumVersionsProperty>
    <isRecord xmlns="69827baf-44c8-4d6e-8fca-09c541b72215">false</isRecord>
    <appearsIn xmlns="69827baf-44c8-4d6e-8fca-09c541b72215">Documents</appearsIn>
    <handleNum xmlns="69827baf-44c8-4d6e-8fca-09c541b72215">702672</handleNum>
    <baseType xmlns="69827baf-44c8-4d6e-8fca-09c541b72215">File</baseType>
    <rootType xmlns="69827baf-44c8-4d6e-8fca-09c541b72215">File</rootType>
    <tztdxfolderpath xmlns="69827baf-44c8-4d6e-8fca-09c541b72215">/1023 Software Value Engineering/Documents</tztdxfolderpath>
    <abstract xmlns="69827baf-44c8-4d6e-8fca-09c541b72215" xsi:nil="true"/>
    <itemURL xmlns="69827baf-44c8-4d6e-8fca-09c541b72215">https://docushare.iridium.com/docushare/dscgi/ds.py/Get/File-702672/IRDM-1023-PRO-007 v2.2 - Acceptance Test Results Review Template.pptx</itemURL>
    <fileName xmlns="69827baf-44c8-4d6e-8fca-09c541b72215">IRDM-1023-PRO-007 v2.2 - Acceptance Test Results Review Template.pptx</fileName>
    <attachmentsOnly xmlns="69827baf-44c8-4d6e-8fca-09c541b72215" xsi:nil="true"/>
    <lockedBy xmlns="69827baf-44c8-4d6e-8fca-09c541b72215">
      <UserInfo>
        <DisplayName/>
        <AccountId xsi:nil="true"/>
        <AccountType/>
      </UserInfo>
    </lockedBy>
    <owner xmlns="69827baf-44c8-4d6e-8fca-09c541b72215">
      <UserInfo>
        <DisplayName/>
        <AccountId>15</AccountId>
        <AccountType/>
      </UserInfo>
    </owner>
    <isPreferred xmlns="69827baf-44c8-4d6e-8fca-09c541b72215">true</isPreferred>
    <rootTypeNum xmlns="69827baf-44c8-4d6e-8fca-09c541b72215">3</rootTypeNum>
    <author_x0028_1_x0029_ xmlns="69827baf-44c8-4d6e-8fca-09c541b72215" xsi:nil="true"/>
    <author_1 xmlns="69827baf-44c8-4d6e-8fca-09c541b72215" xsi:nil="true"/>
    <type xmlns="69827baf-44c8-4d6e-8fca-09c541b72215">File</type>
    <lcf76f155ced4ddcb4097134ff3c332f xmlns="01a8d780-103f-437e-a7af-e5a57fb7162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9BE52A-7F6A-49FD-9BAC-4B9E6284B70A}">
  <ds:schemaRefs>
    <ds:schemaRef ds:uri="01a8d780-103f-437e-a7af-e5a57fb7162e"/>
    <ds:schemaRef ds:uri="69827baf-44c8-4d6e-8fca-09c541b722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2B91F17-D8EC-4968-91D0-33BC12057EEC}">
  <ds:schemaRefs>
    <ds:schemaRef ds:uri="69827baf-44c8-4d6e-8fca-09c541b72215"/>
    <ds:schemaRef ds:uri="http://schemas.microsoft.com/office/2006/documentManagement/types"/>
    <ds:schemaRef ds:uri="http://schemas.openxmlformats.org/package/2006/metadata/core-properties"/>
    <ds:schemaRef ds:uri="01a8d780-103f-437e-a7af-e5a57fb7162e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FF0F51B-E4AC-4878-AFF5-8DD9FEF62CE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99430a5-3c85-44f6-93bd-4c5e6aad4c55}" enabled="0" method="" siteId="{499430a5-3c85-44f6-93bd-4c5e6aad4c5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750</Words>
  <Application>Microsoft Office PowerPoint</Application>
  <PresentationFormat>Widescreen</PresentationFormat>
  <Paragraphs>111</Paragraphs>
  <Slides>10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IRDM-1023-PRO-007 v2.2 - Acceptance Test Results Review Template.pptx</dc:title>
  <dc:creator>Shelby Maiden</dc:creator>
  <cp:lastModifiedBy>Alex Lehman</cp:lastModifiedBy>
  <cp:revision>296</cp:revision>
  <dcterms:created xsi:type="dcterms:W3CDTF">2021-01-28T16:32:35Z</dcterms:created>
  <dcterms:modified xsi:type="dcterms:W3CDTF">2026-05-26T14:23:04Z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0x010100007601908D097B40997BD1420F650EE7</vt:lpwstr>
  </property>
  <property fmtid="{D5CDD505-2E9C-101B-9397-08002B2CF9AE}" pid="3" name="Order">
    <vt:r8>100</vt:r8>
  </property>
  <property fmtid="{D5CDD505-2E9C-101B-9397-08002B2CF9AE}" pid="4" name="D996E646-5C05-45b7-B24A-9AFAF5B21503">
    <vt:lpwstr>IRDM-1023-PRO-007 v2.2 - Acceptance Test Results Review Template.pptx</vt:lpwstr>
  </property>
  <property fmtid="{D5CDD505-2E9C-101B-9397-08002B2CF9AE}" pid="5" name="Created Date">
    <vt:lpwstr>2025-02-27T21:58:19</vt:lpwstr>
  </property>
  <property fmtid="{D5CDD505-2E9C-101B-9397-08002B2CF9AE}" pid="6" name="{DFC8691F-2432-4741-B780-3CAE3235A612}">
    <vt:lpwstr>&lt;?xml version="1.0" encoding="utf-16"?&gt;&lt;XmlFileSourceXmlGenerator xmlns:xsd="http://www.w3.org/2001/XMLSchema" xmlns:xsi="http://www.w3.org/2001/XMLSchema-instance"&gt;&lt;SourceInfoStoreType&gt;DocuShare&lt;/SourceInfoStoreType&gt;&lt;Url&gt;D:/Exports/Sub Eqpt 0-5048/DocuShare Data/FileStore/1023 Software Value Engineering/Documents/IRDM-1023-PRO-007 v2.2 - Acceptance Test Results Review Template.pptx&lt;/Url&gt;&lt;UrlForOpen&gt;D:/Exports/Sub Eqpt 0-5048/DocuShare Data/FileStore/1023 Software Value Engineering/Documents/IRDM-1023-PRO-007 v2.2 - Acceptance Test Results Review Template-V1.pptx&lt;/UrlForOpen&gt;&lt;Uid&gt;File-702672/1&lt;/Uid&gt;&lt;SourceUid&gt;https://docushare.iridium.com/docushare/dscgi/ds.py/Get/File-702672/IRDM-1023-PRO-007 v2.2 - Acceptance Test Results Review Template.pptx&lt;/SourceUid&gt;&lt;/XmlFileSourceXmlGenerator&gt;</vt:lpwstr>
  </property>
  <property fmtid="{D5CDD505-2E9C-101B-9397-08002B2CF9AE}" pid="7" name="MediaServiceImageTags">
    <vt:lpwstr/>
  </property>
</Properties>
</file>